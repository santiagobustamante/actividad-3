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Frecuencia</c:v>
                </c:pt>
              </c:strCache>
            </c:strRef>
          </c:tx>
          <c:spPr>
            <a:solidFill>
              <a:srgbClr val="C039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Trafico</c:v>
                  </c:pt>
                  <c:pt idx="1">
                    <c:v>Falta de
stock</c:v>
                  </c:pt>
                  <c:pt idx="2">
                    <c:v>Direccion
incorrecta</c:v>
                  </c:pt>
                  <c:pt idx="3">
                    <c:v>Mal
etiquetado</c:v>
                  </c:pt>
                  <c:pt idx="4">
                    <c:v>Aduana</c:v>
                  </c:pt>
                  <c:pt idx="5">
                    <c:v>Sobrecarga
CEDI</c:v>
                  </c:pt>
                  <c:pt idx="6">
                    <c:v>Falla
mecanica</c:v>
                  </c:pt>
                  <c:pt idx="7">
                    <c:v>Error
rastreo</c:v>
                  </c:pt>
                  <c:pt idx="8">
                    <c:v>Clima</c:v>
                  </c:pt>
                </c:lvl>
              </c:multiLvlStrCache>
            </c:multiLvlStrRef>
          </c:cat>
          <c:val>
            <c:numRef>
              <c:f>Sheet1!$B$2:$B$10</c:f>
              <c:numCache>
                <c:formatCode>General</c:formatCode>
                <c:ptCount val="9"/>
                <c:pt idx="0">
                  <c:v>79</c:v>
                </c:pt>
                <c:pt idx="1">
                  <c:v>65</c:v>
                </c:pt>
                <c:pt idx="2">
                  <c:v>35</c:v>
                </c:pt>
                <c:pt idx="3">
                  <c:v>24</c:v>
                </c:pt>
                <c:pt idx="4">
                  <c:v>19</c:v>
                </c:pt>
                <c:pt idx="5">
                  <c:v>17</c:v>
                </c:pt>
                <c:pt idx="6">
                  <c:v>9</c:v>
                </c:pt>
                <c:pt idx="7">
                  <c:v>7</c:v>
                </c:pt>
                <c:pt idx="8">
                  <c:v>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lineChart>
        <c:varyColors val="0"/>
        <c:ser>
          <c:idx val="1"/>
          <c:order val="1"/>
          <c:tx>
            <c:strRef>
              <c:f>Sheet1!$C$1</c:f>
              <c:strCache>
                <c:ptCount val="1"/>
                <c:pt idx="0">
                  <c:v>% Acumulado</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Sheet1!$A$2:$A$10</c:f>
              <c:multiLvlStrCache>
                <c:ptCount val="9"/>
                <c:lvl>
                  <c:pt idx="0">
                    <c:v>Trafico</c:v>
                  </c:pt>
                  <c:pt idx="1">
                    <c:v>Falta de
stock</c:v>
                  </c:pt>
                  <c:pt idx="2">
                    <c:v>Direccion
incorrecta</c:v>
                  </c:pt>
                  <c:pt idx="3">
                    <c:v>Mal
etiquetado</c:v>
                  </c:pt>
                  <c:pt idx="4">
                    <c:v>Aduana</c:v>
                  </c:pt>
                  <c:pt idx="5">
                    <c:v>Sobrecarga
CEDI</c:v>
                  </c:pt>
                  <c:pt idx="6">
                    <c:v>Falla
mecanica</c:v>
                  </c:pt>
                  <c:pt idx="7">
                    <c:v>Error
rastreo</c:v>
                  </c:pt>
                  <c:pt idx="8">
                    <c:v>Clima</c:v>
                  </c:pt>
                </c:lvl>
              </c:multiLvlStrCache>
            </c:multiLvlStrRef>
          </c:cat>
          <c:val>
            <c:numRef>
              <c:f>Sheet1!$C$2:$C$10</c:f>
              <c:numCache>
                <c:formatCode>General</c:formatCode>
                <c:ptCount val="9"/>
                <c:pt idx="0">
                  <c:v>30.3</c:v>
                </c:pt>
                <c:pt idx="1">
                  <c:v>55.2</c:v>
                </c:pt>
                <c:pt idx="2">
                  <c:v>68.6</c:v>
                </c:pt>
                <c:pt idx="3">
                  <c:v>77.8</c:v>
                </c:pt>
                <c:pt idx="4">
                  <c:v>85.1</c:v>
                </c:pt>
                <c:pt idx="5">
                  <c:v>91.6</c:v>
                </c:pt>
                <c:pt idx="6">
                  <c:v>95</c:v>
                </c:pt>
                <c:pt idx="7">
                  <c:v>97.7</c:v>
                </c:pt>
                <c:pt idx="8">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Frecuencia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2B2B2B"/>
                </a:solidFill>
                <a:latin typeface="Arial"/>
              </a:defRPr>
            </a:pPr>
            <a:endParaRPr lang="en-US"/>
          </a:p>
        </c:txPr>
        <c:crossAx val="2094734554"/>
        <c:crosses val="autoZero"/>
        <c:crossBetween val="between"/>
      </c:valAx>
      <c:valAx>
        <c:axId val="2094734553"/>
        <c:scaling>
          <c:orientation val="minMax"/>
          <c:max val="110"/>
          <c:min val="0"/>
        </c:scaling>
        <c:delete val="0"/>
        <c:axPos val="r"/>
        <c:majorGridlines>
          <c:spPr>
            <a:ln w="12700" cap="flat">
              <a:solidFill>
                <a:srgbClr val="88888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 acumulado</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2B2B2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2B2B2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000">
              <a:solidFill>
                <a:srgbClr val="2B2B2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2C5F8A"/>
          </a:solidFill>
          <a:ln/>
        </p:spPr>
      </p:sp>
      <p:sp>
        <p:nvSpPr>
          <p:cNvPr id="3" name="Shape 1"/>
          <p:cNvSpPr/>
          <p:nvPr/>
        </p:nvSpPr>
        <p:spPr>
          <a:xfrm>
            <a:off x="-1645920" y="4206240"/>
            <a:ext cx="3840480" cy="3840480"/>
          </a:xfrm>
          <a:prstGeom prst="ellipse">
            <a:avLst/>
          </a:prstGeom>
          <a:solidFill>
            <a:srgbClr val="2C5F8A"/>
          </a:solidFill>
          <a:ln/>
        </p:spPr>
      </p:sp>
      <p:sp>
        <p:nvSpPr>
          <p:cNvPr id="4" name="Shape 2"/>
          <p:cNvSpPr/>
          <p:nvPr/>
        </p:nvSpPr>
        <p:spPr>
          <a:xfrm>
            <a:off x="9281160" y="2331720"/>
            <a:ext cx="2011680" cy="2011680"/>
          </a:xfrm>
          <a:prstGeom prst="ellipse">
            <a:avLst/>
          </a:prstGeom>
          <a:solidFill>
            <a:srgbClr val="E67E22"/>
          </a:solidFill>
          <a:ln/>
        </p:spPr>
      </p:sp>
      <p:sp>
        <p:nvSpPr>
          <p:cNvPr id="5" name="Text 3"/>
          <p:cNvSpPr txBox="1"/>
          <p:nvPr/>
        </p:nvSpPr>
        <p:spPr>
          <a:xfrm>
            <a:off x="9281160" y="2331720"/>
            <a:ext cx="2011680" cy="20116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80/20</a:t>
            </a:r>
            <a:endParaRPr lang="en-US" sz="2200" dirty="0"/>
          </a:p>
        </p:txBody>
      </p:sp>
      <p:sp>
        <p:nvSpPr>
          <p:cNvPr id="6" name="Text 4"/>
          <p:cNvSpPr txBox="1"/>
          <p:nvPr/>
        </p:nvSpPr>
        <p:spPr>
          <a:xfrm>
            <a:off x="822960" y="1463040"/>
            <a:ext cx="7772400" cy="457200"/>
          </a:xfrm>
          <a:prstGeom prst="rect">
            <a:avLst/>
          </a:prstGeom>
          <a:noFill/>
          <a:ln/>
        </p:spPr>
        <p:txBody>
          <a:bodyPr wrap="square" lIns="0" tIns="0" rIns="0" bIns="0" rtlCol="0" anchor="ctr"/>
          <a:lstStyle/>
          <a:p>
            <a:pPr indent="0" marL="0">
              <a:buNone/>
            </a:pPr>
            <a:r>
              <a:rPr lang="en-US" sz="1400" spc="200" kern="0" dirty="0">
                <a:solidFill>
                  <a:srgbClr val="CADCFC"/>
                </a:solidFill>
                <a:latin typeface="Calibri" pitchFamily="34" charset="0"/>
                <a:ea typeface="Calibri" pitchFamily="34" charset="-122"/>
                <a:cs typeface="Calibri" pitchFamily="34" charset="-120"/>
              </a:rPr>
              <a:t>HERRAMIENTAS BASICAS DE CALIDAD</a:t>
            </a:r>
            <a:endParaRPr lang="en-US" sz="1400" dirty="0"/>
          </a:p>
        </p:txBody>
      </p:sp>
      <p:sp>
        <p:nvSpPr>
          <p:cNvPr id="7" name="Text 5"/>
          <p:cNvSpPr txBox="1"/>
          <p:nvPr/>
        </p:nvSpPr>
        <p:spPr>
          <a:xfrm>
            <a:off x="777240" y="1965960"/>
            <a:ext cx="8229600" cy="13716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Diagrama de Pareto</a:t>
            </a:r>
            <a:endParaRPr lang="en-US" sz="4600" dirty="0"/>
          </a:p>
        </p:txBody>
      </p:sp>
      <p:sp>
        <p:nvSpPr>
          <p:cNvPr id="8" name="Text 6"/>
          <p:cNvSpPr txBox="1"/>
          <p:nvPr/>
        </p:nvSpPr>
        <p:spPr>
          <a:xfrm>
            <a:off x="822960" y="3063240"/>
            <a:ext cx="7589520" cy="54864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Priorizar las pocas causas vitales frente a las muchas triviales</a:t>
            </a:r>
            <a:endParaRPr lang="en-US" sz="1600" dirty="0"/>
          </a:p>
        </p:txBody>
      </p:sp>
      <p:sp>
        <p:nvSpPr>
          <p:cNvPr id="9" name="Text 7"/>
          <p:cNvSpPr txBox="1"/>
          <p:nvPr/>
        </p:nvSpPr>
        <p:spPr>
          <a:xfrm>
            <a:off x="822960" y="5120640"/>
            <a:ext cx="7772400" cy="1097280"/>
          </a:xfrm>
          <a:prstGeom prst="rect">
            <a:avLst/>
          </a:prstGeom>
          <a:noFill/>
          <a:ln/>
        </p:spPr>
        <p:txBody>
          <a:bodyPr wrap="square" lIns="0" tIns="0" rIns="0" bIns="0" rtlCol="0" anchor="ctr"/>
          <a:lstStyle/>
          <a:p>
            <a:pPr indent="0" marL="0">
              <a:lnSpc>
                <a:spcPct val="130000"/>
              </a:lnSpc>
              <a:buNone/>
            </a:pPr>
            <a:r>
              <a:rPr lang="en-US" sz="1200" dirty="0">
                <a:solidFill>
                  <a:srgbClr val="CADCFC"/>
                </a:solidFill>
                <a:latin typeface="Calibri" pitchFamily="34" charset="0"/>
                <a:ea typeface="Calibri" pitchFamily="34" charset="-122"/>
                <a:cs typeface="Calibri" pitchFamily="34" charset="-120"/>
              </a:rPr>
              <a:t>Actividad de Aprendizaje 3: Descubriendo las Herramientas de Calidad
</a:t>
            </a:r>
            <a:endParaRPr lang="en-US" sz="1200" dirty="0"/>
          </a:p>
          <a:p>
            <a:pPr indent="0" marL="0">
              <a:lnSpc>
                <a:spcPct val="130000"/>
              </a:lnSpc>
              <a:buNone/>
            </a:pPr>
            <a:r>
              <a:rPr lang="en-US" sz="1200" dirty="0">
                <a:solidFill>
                  <a:srgbClr val="CADCFC"/>
                </a:solidFill>
                <a:latin typeface="Calibri" pitchFamily="34" charset="0"/>
                <a:ea typeface="Calibri" pitchFamily="34" charset="-122"/>
                <a:cs typeface="Calibri" pitchFamily="34" charset="-120"/>
              </a:rPr>
              <a:t>Santiago Bustamante Molina  •  Ingeniería de Sistemas – 10° semestre
</a:t>
            </a:r>
            <a:endParaRPr lang="en-US" sz="1200" dirty="0"/>
          </a:p>
          <a:p>
            <a:pPr indent="0" marL="0">
              <a:lnSpc>
                <a:spcPct val="130000"/>
              </a:lnSpc>
              <a:buNone/>
            </a:pPr>
            <a:r>
              <a:rPr lang="en-US" sz="1200" dirty="0">
                <a:solidFill>
                  <a:srgbClr val="CADCFC"/>
                </a:solidFill>
                <a:latin typeface="Calibri" pitchFamily="34" charset="0"/>
                <a:ea typeface="Calibri" pitchFamily="34" charset="-122"/>
                <a:cs typeface="Calibri" pitchFamily="34" charset="-120"/>
              </a:rPr>
              <a:t>Septiembre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Definición</a:t>
            </a:r>
            <a:endParaRPr lang="en-US" sz="3000" dirty="0"/>
          </a:p>
        </p:txBody>
      </p:sp>
      <p:sp>
        <p:nvSpPr>
          <p:cNvPr id="3" name="Text 1"/>
          <p:cNvSpPr txBox="1"/>
          <p:nvPr/>
        </p:nvSpPr>
        <p:spPr>
          <a:xfrm>
            <a:off x="640080" y="1417320"/>
            <a:ext cx="6309360" cy="1463040"/>
          </a:xfrm>
          <a:prstGeom prst="rect">
            <a:avLst/>
          </a:prstGeom>
          <a:noFill/>
          <a:ln/>
        </p:spPr>
        <p:txBody>
          <a:bodyPr wrap="square" lIns="0" tIns="0" rIns="0" bIns="0" rtlCol="0" anchor="ctr"/>
          <a:lstStyle/>
          <a:p>
            <a:pPr indent="0" marL="0">
              <a:lnSpc>
                <a:spcPct val="125000"/>
              </a:lnSpc>
              <a:buNone/>
            </a:pPr>
            <a:r>
              <a:rPr lang="en-US" sz="1500" dirty="0">
                <a:solidFill>
                  <a:srgbClr val="2B2B2B"/>
                </a:solidFill>
                <a:latin typeface="Calibri" pitchFamily="34" charset="0"/>
                <a:ea typeface="Calibri" pitchFamily="34" charset="-122"/>
                <a:cs typeface="Calibri" pitchFamily="34" charset="-120"/>
              </a:rPr>
              <a:t>El diagrama de Pareto es una herramienta gráfica que organiza, de mayor a menor frecuencia, las causas o categorías de un problema, junto con una línea que muestra su porcentaje acumulado.</a:t>
            </a:r>
            <a:endParaRPr lang="en-US" sz="1500" dirty="0"/>
          </a:p>
        </p:txBody>
      </p:sp>
      <p:sp>
        <p:nvSpPr>
          <p:cNvPr id="4" name="Text 2"/>
          <p:cNvSpPr txBox="1"/>
          <p:nvPr/>
        </p:nvSpPr>
        <p:spPr>
          <a:xfrm>
            <a:off x="640080" y="2880360"/>
            <a:ext cx="6309360" cy="2103120"/>
          </a:xfrm>
          <a:prstGeom prst="rect">
            <a:avLst/>
          </a:prstGeom>
          <a:noFill/>
          <a:ln/>
        </p:spPr>
        <p:txBody>
          <a:bodyPr wrap="square" lIns="0" tIns="0" rIns="0" bIns="0" rtlCol="0" anchor="ctr"/>
          <a:lstStyle/>
          <a:p>
            <a:pPr indent="0" marL="0">
              <a:lnSpc>
                <a:spcPct val="125000"/>
              </a:lnSpc>
              <a:buNone/>
            </a:pPr>
            <a:r>
              <a:rPr lang="en-US" sz="1500" dirty="0">
                <a:solidFill>
                  <a:srgbClr val="2B2B2B"/>
                </a:solidFill>
                <a:latin typeface="Calibri" pitchFamily="34" charset="0"/>
                <a:ea typeface="Calibri" pitchFamily="34" charset="-122"/>
                <a:cs typeface="Calibri" pitchFamily="34" charset="-120"/>
              </a:rPr>
              <a:t>Se basa en el principio de Pareto (regla 80/20): en la mayoría de los problemas, un número reducido de causas —las "pocas vitales"— es responsable de la mayor parte del efecto observado, mientras que un gran número de causas restantes —las "muchas triviales"— tiene un impacto marginal.</a:t>
            </a:r>
            <a:endParaRPr lang="en-US" sz="1500" dirty="0"/>
          </a:p>
        </p:txBody>
      </p:sp>
      <p:sp>
        <p:nvSpPr>
          <p:cNvPr id="5" name="Shape 3"/>
          <p:cNvSpPr/>
          <p:nvPr/>
        </p:nvSpPr>
        <p:spPr>
          <a:xfrm>
            <a:off x="7406640" y="1463040"/>
            <a:ext cx="4160520" cy="4297680"/>
          </a:xfrm>
          <a:prstGeom prst="roundRect">
            <a:avLst>
              <a:gd name="adj" fmla="val 2637"/>
            </a:avLst>
          </a:prstGeom>
          <a:solidFill>
            <a:srgbClr val="EDF0F5"/>
          </a:solidFill>
          <a:ln/>
        </p:spPr>
      </p:sp>
      <p:sp>
        <p:nvSpPr>
          <p:cNvPr id="6" name="Shape 4"/>
          <p:cNvSpPr/>
          <p:nvPr/>
        </p:nvSpPr>
        <p:spPr>
          <a:xfrm>
            <a:off x="7772400" y="1828800"/>
            <a:ext cx="914400" cy="914400"/>
          </a:xfrm>
          <a:prstGeom prst="ellipse">
            <a:avLst/>
          </a:prstGeom>
          <a:solidFill>
            <a:srgbClr val="1E2761"/>
          </a:solidFill>
          <a:ln/>
        </p:spPr>
      </p:sp>
      <p:sp>
        <p:nvSpPr>
          <p:cNvPr id="7" name="Text 5"/>
          <p:cNvSpPr txBox="1"/>
          <p:nvPr/>
        </p:nvSpPr>
        <p:spPr>
          <a:xfrm>
            <a:off x="7772400" y="18288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7406640" y="2880360"/>
            <a:ext cx="3794760" cy="365760"/>
          </a:xfrm>
          <a:prstGeom prst="rect">
            <a:avLst/>
          </a:prstGeom>
          <a:noFill/>
          <a:ln/>
        </p:spPr>
        <p:txBody>
          <a:bodyPr wrap="square" lIns="1270" tIns="1270" rIns="1270" bIns="1270" rtlCol="0" anchor="ctr"/>
          <a:lstStyle/>
          <a:p>
            <a:pPr algn="l" indent="0" marL="0">
              <a:buNone/>
            </a:pPr>
            <a:r>
              <a:rPr lang="en-US" sz="1400" b="1" dirty="0">
                <a:solidFill>
                  <a:srgbClr val="1E2761"/>
                </a:solidFill>
                <a:latin typeface="Cambria" pitchFamily="34" charset="0"/>
                <a:ea typeface="Cambria" pitchFamily="34" charset="-122"/>
                <a:cs typeface="Cambria" pitchFamily="34" charset="-120"/>
              </a:rPr>
              <a:t>Origen del concepto</a:t>
            </a:r>
            <a:endParaRPr lang="en-US" sz="1400" dirty="0"/>
          </a:p>
        </p:txBody>
      </p:sp>
      <p:sp>
        <p:nvSpPr>
          <p:cNvPr id="9" name="Text 7"/>
          <p:cNvSpPr txBox="1"/>
          <p:nvPr/>
        </p:nvSpPr>
        <p:spPr>
          <a:xfrm>
            <a:off x="7635240" y="3291840"/>
            <a:ext cx="3657600" cy="1188720"/>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alibri" pitchFamily="34" charset="0"/>
                <a:ea typeface="Calibri" pitchFamily="34" charset="-122"/>
                <a:cs typeface="Calibri" pitchFamily="34" charset="-120"/>
              </a:rPr>
              <a:t>Vilfredo Pareto (economista italiano, 1848–1923) observó que aproximadamente el 80 % de la tierra en Italia pertenecía al 20 % de la población.</a:t>
            </a:r>
            <a:endParaRPr lang="en-US" sz="1200" dirty="0"/>
          </a:p>
        </p:txBody>
      </p:sp>
      <p:sp>
        <p:nvSpPr>
          <p:cNvPr id="10" name="Text 8"/>
          <p:cNvSpPr txBox="1"/>
          <p:nvPr/>
        </p:nvSpPr>
        <p:spPr>
          <a:xfrm>
            <a:off x="7635240" y="4526280"/>
            <a:ext cx="3657600" cy="1097280"/>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alibri" pitchFamily="34" charset="0"/>
                <a:ea typeface="Calibri" pitchFamily="34" charset="-122"/>
                <a:cs typeface="Calibri" pitchFamily="34" charset="-120"/>
              </a:rPr>
              <a:t>Joseph Juran extendió esta observación a la gestión de la calidad, acuñando la idea de las "pocas vitales, muchas triviales".</a:t>
            </a:r>
            <a:endParaRPr lang="en-US" sz="1200" dirty="0"/>
          </a:p>
        </p:txBody>
      </p:sp>
      <p:sp>
        <p:nvSpPr>
          <p:cNvPr id="11" name="Text 9"/>
          <p:cNvSpPr txBox="1"/>
          <p:nvPr/>
        </p:nvSpPr>
        <p:spPr>
          <a:xfrm>
            <a:off x="640080" y="6400800"/>
            <a:ext cx="7315200" cy="32004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Diagrama de Pareto — Herramienta de Calidad</a:t>
            </a:r>
            <a:endParaRPr lang="en-US" sz="900" dirty="0"/>
          </a:p>
        </p:txBody>
      </p:sp>
      <p:sp>
        <p:nvSpPr>
          <p:cNvPr id="12" name="Text 10"/>
          <p:cNvSpPr txBox="1"/>
          <p:nvPr/>
        </p:nvSpPr>
        <p:spPr>
          <a:xfrm>
            <a:off x="11094415" y="6400800"/>
            <a:ext cx="54864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Objetivo</a:t>
            </a:r>
            <a:endParaRPr lang="en-US" sz="3000" dirty="0"/>
          </a:p>
        </p:txBody>
      </p:sp>
      <p:sp>
        <p:nvSpPr>
          <p:cNvPr id="3" name="Text 1"/>
          <p:cNvSpPr txBox="1"/>
          <p:nvPr/>
        </p:nvSpPr>
        <p:spPr>
          <a:xfrm>
            <a:off x="640080" y="1463040"/>
            <a:ext cx="6035040" cy="2377440"/>
          </a:xfrm>
          <a:prstGeom prst="rect">
            <a:avLst/>
          </a:prstGeom>
          <a:noFill/>
          <a:ln/>
        </p:spPr>
        <p:txBody>
          <a:bodyPr wrap="square" lIns="0" tIns="0" rIns="0" bIns="0" rtlCol="0" anchor="ctr"/>
          <a:lstStyle/>
          <a:p>
            <a:pPr indent="0" marL="0">
              <a:lnSpc>
                <a:spcPct val="130000"/>
              </a:lnSpc>
              <a:buNone/>
            </a:pPr>
            <a:r>
              <a:rPr lang="en-US" sz="1600" dirty="0">
                <a:solidFill>
                  <a:srgbClr val="2B2B2B"/>
                </a:solidFill>
                <a:latin typeface="Calibri" pitchFamily="34" charset="0"/>
                <a:ea typeface="Calibri" pitchFamily="34" charset="-122"/>
                <a:cs typeface="Calibri" pitchFamily="34" charset="-120"/>
              </a:rPr>
              <a:t>Identificar y priorizar, de entre todas las causas posibles de un problema, aquellas pocas que concentran la mayor parte del efecto, para enfocar en ellas los recursos y esfuerzos de mejora disponibles.</a:t>
            </a:r>
            <a:endParaRPr lang="en-US" sz="1600" dirty="0"/>
          </a:p>
        </p:txBody>
      </p:sp>
      <p:sp>
        <p:nvSpPr>
          <p:cNvPr id="4" name="Text 2"/>
          <p:cNvSpPr txBox="1"/>
          <p:nvPr/>
        </p:nvSpPr>
        <p:spPr>
          <a:xfrm>
            <a:off x="640080" y="3840480"/>
            <a:ext cx="6035040" cy="457200"/>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El Pareto responde a la pregunta:</a:t>
            </a:r>
            <a:endParaRPr lang="en-US" sz="1300" dirty="0"/>
          </a:p>
        </p:txBody>
      </p:sp>
      <p:sp>
        <p:nvSpPr>
          <p:cNvPr id="5" name="Text 3"/>
          <p:cNvSpPr txBox="1"/>
          <p:nvPr/>
        </p:nvSpPr>
        <p:spPr>
          <a:xfrm>
            <a:off x="640080" y="4251960"/>
            <a:ext cx="6035040" cy="6400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“¿Dónde debo actuar primero?”</a:t>
            </a:r>
            <a:endParaRPr lang="en-US" sz="2000" dirty="0"/>
          </a:p>
        </p:txBody>
      </p:sp>
      <p:sp>
        <p:nvSpPr>
          <p:cNvPr id="6" name="Shape 4"/>
          <p:cNvSpPr/>
          <p:nvPr/>
        </p:nvSpPr>
        <p:spPr>
          <a:xfrm>
            <a:off x="7315200" y="1463040"/>
            <a:ext cx="4206240" cy="4297680"/>
          </a:xfrm>
          <a:prstGeom prst="roundRect">
            <a:avLst>
              <a:gd name="adj" fmla="val 2609"/>
            </a:avLst>
          </a:prstGeom>
          <a:solidFill>
            <a:srgbClr val="1E2761"/>
          </a:solidFill>
          <a:ln/>
        </p:spPr>
      </p:sp>
      <p:sp>
        <p:nvSpPr>
          <p:cNvPr id="7" name="Text 5"/>
          <p:cNvSpPr txBox="1"/>
          <p:nvPr/>
        </p:nvSpPr>
        <p:spPr>
          <a:xfrm>
            <a:off x="7315200" y="1965960"/>
            <a:ext cx="4206240" cy="1188720"/>
          </a:xfrm>
          <a:prstGeom prst="rect">
            <a:avLst/>
          </a:prstGeom>
          <a:noFill/>
          <a:ln/>
        </p:spPr>
        <p:txBody>
          <a:bodyPr wrap="square" lIns="0" tIns="0" rIns="0" bIns="0" rtlCol="0" anchor="ctr"/>
          <a:lstStyle/>
          <a:p>
            <a:pPr algn="ctr" indent="0" marL="0">
              <a:buNone/>
            </a:pPr>
            <a:r>
              <a:rPr lang="en-US" sz="5600" b="1" dirty="0">
                <a:solidFill>
                  <a:srgbClr val="E67E22"/>
                </a:solidFill>
                <a:latin typeface="Cambria" pitchFamily="34" charset="0"/>
                <a:ea typeface="Cambria" pitchFamily="34" charset="-122"/>
                <a:cs typeface="Cambria" pitchFamily="34" charset="-120"/>
              </a:rPr>
              <a:t>20%</a:t>
            </a:r>
            <a:endParaRPr lang="en-US" sz="5600" dirty="0"/>
          </a:p>
        </p:txBody>
      </p:sp>
      <p:sp>
        <p:nvSpPr>
          <p:cNvPr id="8" name="Text 6"/>
          <p:cNvSpPr txBox="1"/>
          <p:nvPr/>
        </p:nvSpPr>
        <p:spPr>
          <a:xfrm>
            <a:off x="7315200" y="3063240"/>
            <a:ext cx="420624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de las causas</a:t>
            </a:r>
            <a:endParaRPr lang="en-US" sz="1400" dirty="0"/>
          </a:p>
        </p:txBody>
      </p:sp>
      <p:sp>
        <p:nvSpPr>
          <p:cNvPr id="9" name="Text 7"/>
          <p:cNvSpPr txBox="1"/>
          <p:nvPr/>
        </p:nvSpPr>
        <p:spPr>
          <a:xfrm>
            <a:off x="7315200" y="3520440"/>
            <a:ext cx="4206240" cy="365760"/>
          </a:xfrm>
          <a:prstGeom prst="rect">
            <a:avLst/>
          </a:prstGeom>
          <a:noFill/>
          <a:ln/>
        </p:spPr>
        <p:txBody>
          <a:bodyPr wrap="square" lIns="0" tIns="0" rIns="0" bIns="0"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explican</a:t>
            </a:r>
            <a:endParaRPr lang="en-US" sz="1400" dirty="0"/>
          </a:p>
        </p:txBody>
      </p:sp>
      <p:sp>
        <p:nvSpPr>
          <p:cNvPr id="10" name="Text 8"/>
          <p:cNvSpPr txBox="1"/>
          <p:nvPr/>
        </p:nvSpPr>
        <p:spPr>
          <a:xfrm>
            <a:off x="7315200" y="3931920"/>
            <a:ext cx="4206240" cy="1188720"/>
          </a:xfrm>
          <a:prstGeom prst="rect">
            <a:avLst/>
          </a:prstGeom>
          <a:noFill/>
          <a:ln/>
        </p:spPr>
        <p:txBody>
          <a:bodyPr wrap="square" lIns="0" tIns="0" rIns="0" bIns="0" rtlCol="0" anchor="ctr"/>
          <a:lstStyle/>
          <a:p>
            <a:pPr algn="ctr" indent="0" marL="0">
              <a:buNone/>
            </a:pPr>
            <a:r>
              <a:rPr lang="en-US" sz="5600" b="1" dirty="0">
                <a:solidFill>
                  <a:srgbClr val="E67E22"/>
                </a:solidFill>
                <a:latin typeface="Cambria" pitchFamily="34" charset="0"/>
                <a:ea typeface="Cambria" pitchFamily="34" charset="-122"/>
                <a:cs typeface="Cambria" pitchFamily="34" charset="-120"/>
              </a:rPr>
              <a:t>80%</a:t>
            </a:r>
            <a:endParaRPr lang="en-US" sz="5600" dirty="0"/>
          </a:p>
        </p:txBody>
      </p:sp>
      <p:sp>
        <p:nvSpPr>
          <p:cNvPr id="11" name="Text 9"/>
          <p:cNvSpPr txBox="1"/>
          <p:nvPr/>
        </p:nvSpPr>
        <p:spPr>
          <a:xfrm>
            <a:off x="7315200" y="5029200"/>
            <a:ext cx="420624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del problema</a:t>
            </a:r>
            <a:endParaRPr lang="en-US" sz="1400" dirty="0"/>
          </a:p>
        </p:txBody>
      </p:sp>
      <p:sp>
        <p:nvSpPr>
          <p:cNvPr id="12" name="Text 10"/>
          <p:cNvSpPr txBox="1"/>
          <p:nvPr/>
        </p:nvSpPr>
        <p:spPr>
          <a:xfrm>
            <a:off x="640080" y="6400800"/>
            <a:ext cx="7315200" cy="32004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Diagrama de Pareto — Herramienta de Calidad</a:t>
            </a:r>
            <a:endParaRPr lang="en-US" sz="900" dirty="0"/>
          </a:p>
        </p:txBody>
      </p:sp>
      <p:sp>
        <p:nvSpPr>
          <p:cNvPr id="13" name="Text 11"/>
          <p:cNvSpPr txBox="1"/>
          <p:nvPr/>
        </p:nvSpPr>
        <p:spPr>
          <a:xfrm>
            <a:off x="11094415" y="6400800"/>
            <a:ext cx="54864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Características</a:t>
            </a:r>
            <a:endParaRPr lang="en-US" sz="3000" dirty="0"/>
          </a:p>
        </p:txBody>
      </p:sp>
      <p:sp>
        <p:nvSpPr>
          <p:cNvPr id="3" name="Shape 1"/>
          <p:cNvSpPr/>
          <p:nvPr/>
        </p:nvSpPr>
        <p:spPr>
          <a:xfrm>
            <a:off x="640080" y="1417320"/>
            <a:ext cx="3520440" cy="1965960"/>
          </a:xfrm>
          <a:prstGeom prst="roundRect">
            <a:avLst>
              <a:gd name="adj" fmla="val 4651"/>
            </a:avLst>
          </a:prstGeom>
          <a:solidFill>
            <a:srgbClr val="EDF0F5"/>
          </a:solidFill>
          <a:ln/>
        </p:spPr>
      </p:sp>
      <p:sp>
        <p:nvSpPr>
          <p:cNvPr id="4" name="Shape 2"/>
          <p:cNvSpPr/>
          <p:nvPr/>
        </p:nvSpPr>
        <p:spPr>
          <a:xfrm>
            <a:off x="868680" y="1645920"/>
            <a:ext cx="640080" cy="640080"/>
          </a:xfrm>
          <a:prstGeom prst="ellipse">
            <a:avLst/>
          </a:prstGeom>
          <a:solidFill>
            <a:srgbClr val="1E2761"/>
          </a:solidFill>
          <a:ln/>
        </p:spPr>
      </p:sp>
      <p:sp>
        <p:nvSpPr>
          <p:cNvPr id="5" name="Text 3"/>
          <p:cNvSpPr txBox="1"/>
          <p:nvPr/>
        </p:nvSpPr>
        <p:spPr>
          <a:xfrm>
            <a:off x="868680" y="16459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80/20</a:t>
            </a:r>
            <a:endParaRPr lang="en-US" sz="1800" dirty="0"/>
          </a:p>
        </p:txBody>
      </p:sp>
      <p:sp>
        <p:nvSpPr>
          <p:cNvPr id="6" name="Text 4"/>
          <p:cNvSpPr txBox="1"/>
          <p:nvPr/>
        </p:nvSpPr>
        <p:spPr>
          <a:xfrm>
            <a:off x="868680" y="237744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Se basa en la regla empírica de que pocas causas concentran la mayor parte del efecto.</a:t>
            </a:r>
            <a:endParaRPr lang="en-US" sz="1150" dirty="0"/>
          </a:p>
        </p:txBody>
      </p:sp>
      <p:sp>
        <p:nvSpPr>
          <p:cNvPr id="7" name="Shape 5"/>
          <p:cNvSpPr/>
          <p:nvPr/>
        </p:nvSpPr>
        <p:spPr>
          <a:xfrm>
            <a:off x="4389120" y="1417320"/>
            <a:ext cx="3520440" cy="1965960"/>
          </a:xfrm>
          <a:prstGeom prst="roundRect">
            <a:avLst>
              <a:gd name="adj" fmla="val 4651"/>
            </a:avLst>
          </a:prstGeom>
          <a:solidFill>
            <a:srgbClr val="EDF0F5"/>
          </a:solidFill>
          <a:ln/>
        </p:spPr>
      </p:sp>
      <p:sp>
        <p:nvSpPr>
          <p:cNvPr id="8" name="Shape 6"/>
          <p:cNvSpPr/>
          <p:nvPr/>
        </p:nvSpPr>
        <p:spPr>
          <a:xfrm>
            <a:off x="4617720" y="1645920"/>
            <a:ext cx="640080" cy="640080"/>
          </a:xfrm>
          <a:prstGeom prst="ellipse">
            <a:avLst/>
          </a:prstGeom>
          <a:solidFill>
            <a:srgbClr val="1E2761"/>
          </a:solidFill>
          <a:ln/>
        </p:spPr>
      </p:sp>
      <p:sp>
        <p:nvSpPr>
          <p:cNvPr id="9" name="Text 7"/>
          <p:cNvSpPr txBox="1"/>
          <p:nvPr/>
        </p:nvSpPr>
        <p:spPr>
          <a:xfrm>
            <a:off x="4617720" y="16459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0" name="Text 8"/>
          <p:cNvSpPr txBox="1"/>
          <p:nvPr/>
        </p:nvSpPr>
        <p:spPr>
          <a:xfrm>
            <a:off x="4617720" y="237744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Combina un gráfico de barras (frecuencia) con una línea de porcentaje acumulado.</a:t>
            </a:r>
            <a:endParaRPr lang="en-US" sz="1150" dirty="0"/>
          </a:p>
        </p:txBody>
      </p:sp>
      <p:sp>
        <p:nvSpPr>
          <p:cNvPr id="11" name="Shape 9"/>
          <p:cNvSpPr/>
          <p:nvPr/>
        </p:nvSpPr>
        <p:spPr>
          <a:xfrm>
            <a:off x="8138160" y="1417320"/>
            <a:ext cx="3520440" cy="1965960"/>
          </a:xfrm>
          <a:prstGeom prst="roundRect">
            <a:avLst>
              <a:gd name="adj" fmla="val 4651"/>
            </a:avLst>
          </a:prstGeom>
          <a:solidFill>
            <a:srgbClr val="EDF0F5"/>
          </a:solidFill>
          <a:ln/>
        </p:spPr>
      </p:sp>
      <p:sp>
        <p:nvSpPr>
          <p:cNvPr id="12" name="Shape 10"/>
          <p:cNvSpPr/>
          <p:nvPr/>
        </p:nvSpPr>
        <p:spPr>
          <a:xfrm>
            <a:off x="8366760" y="1645920"/>
            <a:ext cx="640080" cy="640080"/>
          </a:xfrm>
          <a:prstGeom prst="ellipse">
            <a:avLst/>
          </a:prstGeom>
          <a:solidFill>
            <a:srgbClr val="1E2761"/>
          </a:solidFill>
          <a:ln/>
        </p:spPr>
      </p:sp>
      <p:sp>
        <p:nvSpPr>
          <p:cNvPr id="13" name="Text 11"/>
          <p:cNvSpPr txBox="1"/>
          <p:nvPr/>
        </p:nvSpPr>
        <p:spPr>
          <a:xfrm>
            <a:off x="8366760" y="16459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txBox="1"/>
          <p:nvPr/>
        </p:nvSpPr>
        <p:spPr>
          <a:xfrm>
            <a:off x="8366760" y="237744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Ordena las categorías de mayor a menor frecuencia, no alfabéticamente ni al azar.</a:t>
            </a:r>
            <a:endParaRPr lang="en-US" sz="1150" dirty="0"/>
          </a:p>
        </p:txBody>
      </p:sp>
      <p:sp>
        <p:nvSpPr>
          <p:cNvPr id="15" name="Shape 13"/>
          <p:cNvSpPr/>
          <p:nvPr/>
        </p:nvSpPr>
        <p:spPr>
          <a:xfrm>
            <a:off x="640080" y="3611880"/>
            <a:ext cx="3520440" cy="1965960"/>
          </a:xfrm>
          <a:prstGeom prst="roundRect">
            <a:avLst>
              <a:gd name="adj" fmla="val 4651"/>
            </a:avLst>
          </a:prstGeom>
          <a:solidFill>
            <a:srgbClr val="EDF0F5"/>
          </a:solidFill>
          <a:ln/>
        </p:spPr>
      </p:sp>
      <p:sp>
        <p:nvSpPr>
          <p:cNvPr id="16" name="Shape 14"/>
          <p:cNvSpPr/>
          <p:nvPr/>
        </p:nvSpPr>
        <p:spPr>
          <a:xfrm>
            <a:off x="868680" y="3840480"/>
            <a:ext cx="640080" cy="640080"/>
          </a:xfrm>
          <a:prstGeom prst="ellipse">
            <a:avLst/>
          </a:prstGeom>
          <a:solidFill>
            <a:srgbClr val="1E2761"/>
          </a:solidFill>
          <a:ln/>
        </p:spPr>
      </p:sp>
      <p:sp>
        <p:nvSpPr>
          <p:cNvPr id="17" name="Text 15"/>
          <p:cNvSpPr txBox="1"/>
          <p:nvPr/>
        </p:nvSpPr>
        <p:spPr>
          <a:xfrm>
            <a:off x="868680" y="3840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18" name="Text 16"/>
          <p:cNvSpPr txBox="1"/>
          <p:nvPr/>
        </p:nvSpPr>
        <p:spPr>
          <a:xfrm>
            <a:off x="868680" y="457200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Es cuantitativo: exige datos medibles y clasificados por categoría, no solo opiniones.</a:t>
            </a:r>
            <a:endParaRPr lang="en-US" sz="1150" dirty="0"/>
          </a:p>
        </p:txBody>
      </p:sp>
      <p:sp>
        <p:nvSpPr>
          <p:cNvPr id="19" name="Shape 17"/>
          <p:cNvSpPr/>
          <p:nvPr/>
        </p:nvSpPr>
        <p:spPr>
          <a:xfrm>
            <a:off x="4389120" y="3611880"/>
            <a:ext cx="3520440" cy="1965960"/>
          </a:xfrm>
          <a:prstGeom prst="roundRect">
            <a:avLst>
              <a:gd name="adj" fmla="val 4651"/>
            </a:avLst>
          </a:prstGeom>
          <a:solidFill>
            <a:srgbClr val="EDF0F5"/>
          </a:solidFill>
          <a:ln/>
        </p:spPr>
      </p:sp>
      <p:sp>
        <p:nvSpPr>
          <p:cNvPr id="20" name="Shape 18"/>
          <p:cNvSpPr/>
          <p:nvPr/>
        </p:nvSpPr>
        <p:spPr>
          <a:xfrm>
            <a:off x="4617720" y="3840480"/>
            <a:ext cx="640080" cy="640080"/>
          </a:xfrm>
          <a:prstGeom prst="ellipse">
            <a:avLst/>
          </a:prstGeom>
          <a:solidFill>
            <a:srgbClr val="1E2761"/>
          </a:solidFill>
          <a:ln/>
        </p:spPr>
      </p:sp>
      <p:sp>
        <p:nvSpPr>
          <p:cNvPr id="21" name="Text 19"/>
          <p:cNvSpPr txBox="1"/>
          <p:nvPr/>
        </p:nvSpPr>
        <p:spPr>
          <a:xfrm>
            <a:off x="4617720" y="3840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2" name="Text 20"/>
          <p:cNvSpPr txBox="1"/>
          <p:nvPr/>
        </p:nvSpPr>
        <p:spPr>
          <a:xfrm>
            <a:off x="4617720" y="457200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Es visual e intuitivo: comunica prioridades de un vistazo, sin necesidad de estadística avanzada.</a:t>
            </a:r>
            <a:endParaRPr lang="en-US" sz="1150" dirty="0"/>
          </a:p>
        </p:txBody>
      </p:sp>
      <p:sp>
        <p:nvSpPr>
          <p:cNvPr id="23" name="Shape 21"/>
          <p:cNvSpPr/>
          <p:nvPr/>
        </p:nvSpPr>
        <p:spPr>
          <a:xfrm>
            <a:off x="8138160" y="3611880"/>
            <a:ext cx="3520440" cy="1965960"/>
          </a:xfrm>
          <a:prstGeom prst="roundRect">
            <a:avLst>
              <a:gd name="adj" fmla="val 4651"/>
            </a:avLst>
          </a:prstGeom>
          <a:solidFill>
            <a:srgbClr val="EDF0F5"/>
          </a:solidFill>
          <a:ln/>
        </p:spPr>
      </p:sp>
      <p:sp>
        <p:nvSpPr>
          <p:cNvPr id="24" name="Shape 22"/>
          <p:cNvSpPr/>
          <p:nvPr/>
        </p:nvSpPr>
        <p:spPr>
          <a:xfrm>
            <a:off x="8366760" y="3840480"/>
            <a:ext cx="640080" cy="640080"/>
          </a:xfrm>
          <a:prstGeom prst="ellipse">
            <a:avLst/>
          </a:prstGeom>
          <a:solidFill>
            <a:srgbClr val="1E2761"/>
          </a:solidFill>
          <a:ln/>
        </p:spPr>
      </p:sp>
      <p:sp>
        <p:nvSpPr>
          <p:cNvPr id="25" name="Text 23"/>
          <p:cNvSpPr txBox="1"/>
          <p:nvPr/>
        </p:nvSpPr>
        <p:spPr>
          <a:xfrm>
            <a:off x="8366760" y="3840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6" name="Text 24"/>
          <p:cNvSpPr txBox="1"/>
          <p:nvPr/>
        </p:nvSpPr>
        <p:spPr>
          <a:xfrm>
            <a:off x="8366760" y="457200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Es iterativo: se puede repetir tras cada mejora para verificar el avance del proceso.</a:t>
            </a:r>
            <a:endParaRPr lang="en-US" sz="1150" dirty="0"/>
          </a:p>
        </p:txBody>
      </p:sp>
      <p:sp>
        <p:nvSpPr>
          <p:cNvPr id="27" name="Text 25"/>
          <p:cNvSpPr txBox="1"/>
          <p:nvPr/>
        </p:nvSpPr>
        <p:spPr>
          <a:xfrm>
            <a:off x="640080" y="6400800"/>
            <a:ext cx="7315200" cy="32004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Diagrama de Pareto — Herramienta de Calidad</a:t>
            </a:r>
            <a:endParaRPr lang="en-US" sz="900" dirty="0"/>
          </a:p>
        </p:txBody>
      </p:sp>
      <p:sp>
        <p:nvSpPr>
          <p:cNvPr id="28" name="Text 26"/>
          <p:cNvSpPr txBox="1"/>
          <p:nvPr/>
        </p:nvSpPr>
        <p:spPr>
          <a:xfrm>
            <a:off x="11094415" y="6400800"/>
            <a:ext cx="54864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Procedimiento</a:t>
            </a:r>
            <a:endParaRPr lang="en-US" sz="3000" dirty="0"/>
          </a:p>
        </p:txBody>
      </p:sp>
      <p:sp>
        <p:nvSpPr>
          <p:cNvPr id="3" name="Shape 1"/>
          <p:cNvSpPr/>
          <p:nvPr/>
        </p:nvSpPr>
        <p:spPr>
          <a:xfrm>
            <a:off x="640080" y="1417320"/>
            <a:ext cx="3520440" cy="1965960"/>
          </a:xfrm>
          <a:prstGeom prst="roundRect">
            <a:avLst>
              <a:gd name="adj" fmla="val 4651"/>
            </a:avLst>
          </a:prstGeom>
          <a:solidFill>
            <a:srgbClr val="FFFFFF"/>
          </a:solidFill>
          <a:ln w="12700">
            <a:solidFill>
              <a:srgbClr val="DADFE6"/>
            </a:solidFill>
            <a:prstDash val="solid"/>
          </a:ln>
        </p:spPr>
      </p:sp>
      <p:sp>
        <p:nvSpPr>
          <p:cNvPr id="4" name="Shape 2"/>
          <p:cNvSpPr/>
          <p:nvPr/>
        </p:nvSpPr>
        <p:spPr>
          <a:xfrm>
            <a:off x="868680" y="1645920"/>
            <a:ext cx="594360" cy="594360"/>
          </a:xfrm>
          <a:prstGeom prst="ellipse">
            <a:avLst/>
          </a:prstGeom>
          <a:solidFill>
            <a:srgbClr val="E67E22"/>
          </a:solidFill>
          <a:ln/>
        </p:spPr>
      </p:sp>
      <p:sp>
        <p:nvSpPr>
          <p:cNvPr id="5" name="Text 3"/>
          <p:cNvSpPr txBox="1"/>
          <p:nvPr/>
        </p:nvSpPr>
        <p:spPr>
          <a:xfrm>
            <a:off x="868680" y="16459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868680" y="237744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Definir el problema y la variable a medir (ej. envíos retrasados).</a:t>
            </a:r>
            <a:endParaRPr lang="en-US" sz="1150" dirty="0"/>
          </a:p>
        </p:txBody>
      </p:sp>
      <p:sp>
        <p:nvSpPr>
          <p:cNvPr id="7" name="Shape 5"/>
          <p:cNvSpPr/>
          <p:nvPr/>
        </p:nvSpPr>
        <p:spPr>
          <a:xfrm>
            <a:off x="4389120" y="1417320"/>
            <a:ext cx="3520440" cy="1965960"/>
          </a:xfrm>
          <a:prstGeom prst="roundRect">
            <a:avLst>
              <a:gd name="adj" fmla="val 4651"/>
            </a:avLst>
          </a:prstGeom>
          <a:solidFill>
            <a:srgbClr val="FFFFFF"/>
          </a:solidFill>
          <a:ln w="12700">
            <a:solidFill>
              <a:srgbClr val="DADFE6"/>
            </a:solidFill>
            <a:prstDash val="solid"/>
          </a:ln>
        </p:spPr>
      </p:sp>
      <p:sp>
        <p:nvSpPr>
          <p:cNvPr id="8" name="Shape 6"/>
          <p:cNvSpPr/>
          <p:nvPr/>
        </p:nvSpPr>
        <p:spPr>
          <a:xfrm>
            <a:off x="4617720" y="1645920"/>
            <a:ext cx="594360" cy="594360"/>
          </a:xfrm>
          <a:prstGeom prst="ellipse">
            <a:avLst/>
          </a:prstGeom>
          <a:solidFill>
            <a:srgbClr val="E67E22"/>
          </a:solidFill>
          <a:ln/>
        </p:spPr>
      </p:sp>
      <p:sp>
        <p:nvSpPr>
          <p:cNvPr id="9" name="Text 7"/>
          <p:cNvSpPr txBox="1"/>
          <p:nvPr/>
        </p:nvSpPr>
        <p:spPr>
          <a:xfrm>
            <a:off x="4617720" y="16459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4617720" y="237744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Recolectar y clasificar los datos por causa (hoja de verificación).</a:t>
            </a:r>
            <a:endParaRPr lang="en-US" sz="1150" dirty="0"/>
          </a:p>
        </p:txBody>
      </p:sp>
      <p:sp>
        <p:nvSpPr>
          <p:cNvPr id="11" name="Shape 9"/>
          <p:cNvSpPr/>
          <p:nvPr/>
        </p:nvSpPr>
        <p:spPr>
          <a:xfrm>
            <a:off x="8138160" y="1417320"/>
            <a:ext cx="3520440" cy="1965960"/>
          </a:xfrm>
          <a:prstGeom prst="roundRect">
            <a:avLst>
              <a:gd name="adj" fmla="val 4651"/>
            </a:avLst>
          </a:prstGeom>
          <a:solidFill>
            <a:srgbClr val="FFFFFF"/>
          </a:solidFill>
          <a:ln w="12700">
            <a:solidFill>
              <a:srgbClr val="DADFE6"/>
            </a:solidFill>
            <a:prstDash val="solid"/>
          </a:ln>
        </p:spPr>
      </p:sp>
      <p:sp>
        <p:nvSpPr>
          <p:cNvPr id="12" name="Shape 10"/>
          <p:cNvSpPr/>
          <p:nvPr/>
        </p:nvSpPr>
        <p:spPr>
          <a:xfrm>
            <a:off x="8366760" y="1645920"/>
            <a:ext cx="594360" cy="594360"/>
          </a:xfrm>
          <a:prstGeom prst="ellipse">
            <a:avLst/>
          </a:prstGeom>
          <a:solidFill>
            <a:srgbClr val="E67E22"/>
          </a:solidFill>
          <a:ln/>
        </p:spPr>
      </p:sp>
      <p:sp>
        <p:nvSpPr>
          <p:cNvPr id="13" name="Text 11"/>
          <p:cNvSpPr txBox="1"/>
          <p:nvPr/>
        </p:nvSpPr>
        <p:spPr>
          <a:xfrm>
            <a:off x="8366760" y="16459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txBox="1"/>
          <p:nvPr/>
        </p:nvSpPr>
        <p:spPr>
          <a:xfrm>
            <a:off x="8366760" y="237744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Calcular la frecuencia de ocurrencia de cada causa.</a:t>
            </a:r>
            <a:endParaRPr lang="en-US" sz="1150" dirty="0"/>
          </a:p>
        </p:txBody>
      </p:sp>
      <p:sp>
        <p:nvSpPr>
          <p:cNvPr id="15" name="Shape 13"/>
          <p:cNvSpPr/>
          <p:nvPr/>
        </p:nvSpPr>
        <p:spPr>
          <a:xfrm>
            <a:off x="640080" y="3611880"/>
            <a:ext cx="3520440" cy="1965960"/>
          </a:xfrm>
          <a:prstGeom prst="roundRect">
            <a:avLst>
              <a:gd name="adj" fmla="val 4651"/>
            </a:avLst>
          </a:prstGeom>
          <a:solidFill>
            <a:srgbClr val="FFFFFF"/>
          </a:solidFill>
          <a:ln w="12700">
            <a:solidFill>
              <a:srgbClr val="DADFE6"/>
            </a:solidFill>
            <a:prstDash val="solid"/>
          </a:ln>
        </p:spPr>
      </p:sp>
      <p:sp>
        <p:nvSpPr>
          <p:cNvPr id="16" name="Shape 14"/>
          <p:cNvSpPr/>
          <p:nvPr/>
        </p:nvSpPr>
        <p:spPr>
          <a:xfrm>
            <a:off x="868680" y="3840480"/>
            <a:ext cx="594360" cy="594360"/>
          </a:xfrm>
          <a:prstGeom prst="ellipse">
            <a:avLst/>
          </a:prstGeom>
          <a:solidFill>
            <a:srgbClr val="E67E22"/>
          </a:solidFill>
          <a:ln/>
        </p:spPr>
      </p:sp>
      <p:sp>
        <p:nvSpPr>
          <p:cNvPr id="17" name="Text 15"/>
          <p:cNvSpPr txBox="1"/>
          <p:nvPr/>
        </p:nvSpPr>
        <p:spPr>
          <a:xfrm>
            <a:off x="868680" y="38404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txBox="1"/>
          <p:nvPr/>
        </p:nvSpPr>
        <p:spPr>
          <a:xfrm>
            <a:off x="868680" y="457200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Ordenar las causas de mayor a menor frecuencia.</a:t>
            </a:r>
            <a:endParaRPr lang="en-US" sz="1150" dirty="0"/>
          </a:p>
        </p:txBody>
      </p:sp>
      <p:sp>
        <p:nvSpPr>
          <p:cNvPr id="19" name="Shape 17"/>
          <p:cNvSpPr/>
          <p:nvPr/>
        </p:nvSpPr>
        <p:spPr>
          <a:xfrm>
            <a:off x="4389120" y="3611880"/>
            <a:ext cx="3520440" cy="1965960"/>
          </a:xfrm>
          <a:prstGeom prst="roundRect">
            <a:avLst>
              <a:gd name="adj" fmla="val 4651"/>
            </a:avLst>
          </a:prstGeom>
          <a:solidFill>
            <a:srgbClr val="FFFFFF"/>
          </a:solidFill>
          <a:ln w="12700">
            <a:solidFill>
              <a:srgbClr val="DADFE6"/>
            </a:solidFill>
            <a:prstDash val="solid"/>
          </a:ln>
        </p:spPr>
      </p:sp>
      <p:sp>
        <p:nvSpPr>
          <p:cNvPr id="20" name="Shape 18"/>
          <p:cNvSpPr/>
          <p:nvPr/>
        </p:nvSpPr>
        <p:spPr>
          <a:xfrm>
            <a:off x="4617720" y="3840480"/>
            <a:ext cx="594360" cy="594360"/>
          </a:xfrm>
          <a:prstGeom prst="ellipse">
            <a:avLst/>
          </a:prstGeom>
          <a:solidFill>
            <a:srgbClr val="E67E22"/>
          </a:solidFill>
          <a:ln/>
        </p:spPr>
      </p:sp>
      <p:sp>
        <p:nvSpPr>
          <p:cNvPr id="21" name="Text 19"/>
          <p:cNvSpPr txBox="1"/>
          <p:nvPr/>
        </p:nvSpPr>
        <p:spPr>
          <a:xfrm>
            <a:off x="4617720" y="38404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2" name="Text 20"/>
          <p:cNvSpPr txBox="1"/>
          <p:nvPr/>
        </p:nvSpPr>
        <p:spPr>
          <a:xfrm>
            <a:off x="4617720" y="457200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Calcular el porcentaje individual y el porcentaje acumulado.</a:t>
            </a:r>
            <a:endParaRPr lang="en-US" sz="1150" dirty="0"/>
          </a:p>
        </p:txBody>
      </p:sp>
      <p:sp>
        <p:nvSpPr>
          <p:cNvPr id="23" name="Shape 21"/>
          <p:cNvSpPr/>
          <p:nvPr/>
        </p:nvSpPr>
        <p:spPr>
          <a:xfrm>
            <a:off x="8138160" y="3611880"/>
            <a:ext cx="3520440" cy="1965960"/>
          </a:xfrm>
          <a:prstGeom prst="roundRect">
            <a:avLst>
              <a:gd name="adj" fmla="val 4651"/>
            </a:avLst>
          </a:prstGeom>
          <a:solidFill>
            <a:srgbClr val="FFFFFF"/>
          </a:solidFill>
          <a:ln w="12700">
            <a:solidFill>
              <a:srgbClr val="DADFE6"/>
            </a:solidFill>
            <a:prstDash val="solid"/>
          </a:ln>
        </p:spPr>
      </p:sp>
      <p:sp>
        <p:nvSpPr>
          <p:cNvPr id="24" name="Shape 22"/>
          <p:cNvSpPr/>
          <p:nvPr/>
        </p:nvSpPr>
        <p:spPr>
          <a:xfrm>
            <a:off x="8366760" y="3840480"/>
            <a:ext cx="594360" cy="594360"/>
          </a:xfrm>
          <a:prstGeom prst="ellipse">
            <a:avLst/>
          </a:prstGeom>
          <a:solidFill>
            <a:srgbClr val="E67E22"/>
          </a:solidFill>
          <a:ln/>
        </p:spPr>
      </p:sp>
      <p:sp>
        <p:nvSpPr>
          <p:cNvPr id="25" name="Text 23"/>
          <p:cNvSpPr txBox="1"/>
          <p:nvPr/>
        </p:nvSpPr>
        <p:spPr>
          <a:xfrm>
            <a:off x="8366760" y="38404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6" name="Text 24"/>
          <p:cNvSpPr txBox="1"/>
          <p:nvPr/>
        </p:nvSpPr>
        <p:spPr>
          <a:xfrm>
            <a:off x="8366760" y="4572000"/>
            <a:ext cx="3063240" cy="86868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Graficar barras + línea acumulada, marcar el corte en 80 % e identificar las causas vitales.</a:t>
            </a:r>
            <a:endParaRPr lang="en-US" sz="1150" dirty="0"/>
          </a:p>
        </p:txBody>
      </p:sp>
      <p:sp>
        <p:nvSpPr>
          <p:cNvPr id="27" name="Text 25"/>
          <p:cNvSpPr txBox="1"/>
          <p:nvPr/>
        </p:nvSpPr>
        <p:spPr>
          <a:xfrm>
            <a:off x="640080" y="6400800"/>
            <a:ext cx="7315200" cy="32004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Diagrama de Pareto — Herramienta de Calidad</a:t>
            </a:r>
            <a:endParaRPr lang="en-US" sz="900" dirty="0"/>
          </a:p>
        </p:txBody>
      </p:sp>
      <p:sp>
        <p:nvSpPr>
          <p:cNvPr id="28" name="Text 26"/>
          <p:cNvSpPr txBox="1"/>
          <p:nvPr/>
        </p:nvSpPr>
        <p:spPr>
          <a:xfrm>
            <a:off x="11094415" y="6400800"/>
            <a:ext cx="54864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Ejemplo aplicado: retrasos en entregas</a:t>
            </a:r>
            <a:endParaRPr lang="en-US" sz="3000" dirty="0"/>
          </a:p>
        </p:txBody>
      </p:sp>
      <p:graphicFrame>
        <p:nvGraphicFramePr>
          <p:cNvPr id="3" name="Chart 0" descr=""/>
          <p:cNvGraphicFramePr/>
          <p:nvPr/>
        </p:nvGraphicFramePr>
        <p:xfrm>
          <a:off x="502920" y="141732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417320"/>
            <a:ext cx="3794760" cy="4846320"/>
          </a:xfrm>
          <a:prstGeom prst="roundRect">
            <a:avLst>
              <a:gd name="adj" fmla="val 2892"/>
            </a:avLst>
          </a:prstGeom>
          <a:solidFill>
            <a:srgbClr val="1E2761"/>
          </a:solidFill>
          <a:ln/>
        </p:spPr>
      </p:sp>
      <p:sp>
        <p:nvSpPr>
          <p:cNvPr id="5" name="Text 2"/>
          <p:cNvSpPr txBox="1"/>
          <p:nvPr/>
        </p:nvSpPr>
        <p:spPr>
          <a:xfrm>
            <a:off x="8046720" y="1645920"/>
            <a:ext cx="3291840" cy="1005840"/>
          </a:xfrm>
          <a:prstGeom prst="rect">
            <a:avLst/>
          </a:prstGeom>
          <a:noFill/>
          <a:ln/>
        </p:spPr>
        <p:txBody>
          <a:bodyPr wrap="square" lIns="0" tIns="0" rIns="0" bIns="0" rtlCol="0" anchor="ctr"/>
          <a:lstStyle/>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El caso: retrasos en la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entrega de pedidos de una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empresa de logística</a:t>
            </a:r>
            <a:endParaRPr lang="en-US" sz="1300" dirty="0"/>
          </a:p>
        </p:txBody>
      </p:sp>
      <p:sp>
        <p:nvSpPr>
          <p:cNvPr id="6" name="Text 3"/>
          <p:cNvSpPr txBox="1"/>
          <p:nvPr/>
        </p:nvSpPr>
        <p:spPr>
          <a:xfrm>
            <a:off x="8046720" y="2834640"/>
            <a:ext cx="3291840" cy="457200"/>
          </a:xfrm>
          <a:prstGeom prst="rect">
            <a:avLst/>
          </a:prstGeom>
          <a:noFill/>
          <a:ln/>
        </p:spPr>
        <p:txBody>
          <a:bodyPr wrap="square" lIns="0" tIns="0" rIns="0" bIns="0" rtlCol="0" anchor="ctr"/>
          <a:lstStyle/>
          <a:p>
            <a:pPr indent="0" marL="0">
              <a:buNone/>
            </a:pPr>
            <a:r>
              <a:rPr lang="en-US" sz="2200" b="1" dirty="0">
                <a:solidFill>
                  <a:srgbClr val="E67E22"/>
                </a:solidFill>
                <a:latin typeface="Cambria" pitchFamily="34" charset="0"/>
                <a:ea typeface="Cambria" pitchFamily="34" charset="-122"/>
                <a:cs typeface="Cambria" pitchFamily="34" charset="-120"/>
              </a:rPr>
              <a:t>700</a:t>
            </a:r>
            <a:endParaRPr lang="en-US" sz="2200" dirty="0"/>
          </a:p>
        </p:txBody>
      </p:sp>
      <p:sp>
        <p:nvSpPr>
          <p:cNvPr id="7" name="Text 4"/>
          <p:cNvSpPr txBox="1"/>
          <p:nvPr/>
        </p:nvSpPr>
        <p:spPr>
          <a:xfrm>
            <a:off x="8046720" y="3246120"/>
            <a:ext cx="3291840" cy="320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envíos analizados</a:t>
            </a:r>
            <a:endParaRPr lang="en-US" sz="1150" dirty="0"/>
          </a:p>
        </p:txBody>
      </p:sp>
      <p:sp>
        <p:nvSpPr>
          <p:cNvPr id="8" name="Text 5"/>
          <p:cNvSpPr txBox="1"/>
          <p:nvPr/>
        </p:nvSpPr>
        <p:spPr>
          <a:xfrm>
            <a:off x="8046720" y="3703320"/>
            <a:ext cx="3291840" cy="457200"/>
          </a:xfrm>
          <a:prstGeom prst="rect">
            <a:avLst/>
          </a:prstGeom>
          <a:noFill/>
          <a:ln/>
        </p:spPr>
        <p:txBody>
          <a:bodyPr wrap="square" lIns="0" tIns="0" rIns="0" bIns="0" rtlCol="0" anchor="ctr"/>
          <a:lstStyle/>
          <a:p>
            <a:pPr indent="0" marL="0">
              <a:buNone/>
            </a:pPr>
            <a:r>
              <a:rPr lang="en-US" sz="2200" b="1" dirty="0">
                <a:solidFill>
                  <a:srgbClr val="E67E22"/>
                </a:solidFill>
                <a:latin typeface="Cambria" pitchFamily="34" charset="0"/>
                <a:ea typeface="Cambria" pitchFamily="34" charset="-122"/>
                <a:cs typeface="Cambria" pitchFamily="34" charset="-120"/>
              </a:rPr>
              <a:t>261 (37.3%)</a:t>
            </a:r>
            <a:endParaRPr lang="en-US" sz="2200" dirty="0"/>
          </a:p>
        </p:txBody>
      </p:sp>
      <p:sp>
        <p:nvSpPr>
          <p:cNvPr id="9" name="Text 6"/>
          <p:cNvSpPr txBox="1"/>
          <p:nvPr/>
        </p:nvSpPr>
        <p:spPr>
          <a:xfrm>
            <a:off x="8046720" y="4114800"/>
            <a:ext cx="3291840" cy="320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envíos con retraso</a:t>
            </a:r>
            <a:endParaRPr lang="en-US" sz="1150" dirty="0"/>
          </a:p>
        </p:txBody>
      </p:sp>
      <p:sp>
        <p:nvSpPr>
          <p:cNvPr id="10" name="Text 7"/>
          <p:cNvSpPr txBox="1"/>
          <p:nvPr/>
        </p:nvSpPr>
        <p:spPr>
          <a:xfrm>
            <a:off x="8046720" y="4572000"/>
            <a:ext cx="3291840" cy="457200"/>
          </a:xfrm>
          <a:prstGeom prst="rect">
            <a:avLst/>
          </a:prstGeom>
          <a:noFill/>
          <a:ln/>
        </p:spPr>
        <p:txBody>
          <a:bodyPr wrap="square" lIns="0" tIns="0" rIns="0" bIns="0" rtlCol="0" anchor="ctr"/>
          <a:lstStyle/>
          <a:p>
            <a:pPr indent="0" marL="0">
              <a:buNone/>
            </a:pPr>
            <a:r>
              <a:rPr lang="en-US" sz="2200" b="1" dirty="0">
                <a:solidFill>
                  <a:srgbClr val="E67E22"/>
                </a:solidFill>
                <a:latin typeface="Cambria" pitchFamily="34" charset="0"/>
                <a:ea typeface="Cambria" pitchFamily="34" charset="-122"/>
                <a:cs typeface="Cambria" pitchFamily="34" charset="-120"/>
              </a:rPr>
              <a:t>9</a:t>
            </a:r>
            <a:endParaRPr lang="en-US" sz="2200" dirty="0"/>
          </a:p>
        </p:txBody>
      </p:sp>
      <p:sp>
        <p:nvSpPr>
          <p:cNvPr id="11" name="Text 8"/>
          <p:cNvSpPr txBox="1"/>
          <p:nvPr/>
        </p:nvSpPr>
        <p:spPr>
          <a:xfrm>
            <a:off x="8046720" y="4983480"/>
            <a:ext cx="3291840" cy="320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causas identificadas</a:t>
            </a:r>
            <a:endParaRPr lang="en-US" sz="1150" dirty="0"/>
          </a:p>
        </p:txBody>
      </p:sp>
      <p:sp>
        <p:nvSpPr>
          <p:cNvPr id="12" name="Text 9"/>
          <p:cNvSpPr txBox="1"/>
          <p:nvPr/>
        </p:nvSpPr>
        <p:spPr>
          <a:xfrm>
            <a:off x="8046720" y="5440680"/>
            <a:ext cx="3291840" cy="457200"/>
          </a:xfrm>
          <a:prstGeom prst="rect">
            <a:avLst/>
          </a:prstGeom>
          <a:noFill/>
          <a:ln/>
        </p:spPr>
        <p:txBody>
          <a:bodyPr wrap="square" lIns="0" tIns="0" rIns="0" bIns="0" rtlCol="0" anchor="ctr"/>
          <a:lstStyle/>
          <a:p>
            <a:pPr indent="0" marL="0">
              <a:buNone/>
            </a:pPr>
            <a:r>
              <a:rPr lang="en-US" sz="2200" b="1" dirty="0">
                <a:solidFill>
                  <a:srgbClr val="E67E22"/>
                </a:solidFill>
                <a:latin typeface="Cambria" pitchFamily="34" charset="0"/>
                <a:ea typeface="Cambria" pitchFamily="34" charset="-122"/>
                <a:cs typeface="Cambria" pitchFamily="34" charset="-120"/>
              </a:rPr>
              <a:t>5 de 9 = 85.1%</a:t>
            </a:r>
            <a:endParaRPr lang="en-US" sz="2200" dirty="0"/>
          </a:p>
        </p:txBody>
      </p:sp>
      <p:sp>
        <p:nvSpPr>
          <p:cNvPr id="13" name="Text 10"/>
          <p:cNvSpPr txBox="1"/>
          <p:nvPr/>
        </p:nvSpPr>
        <p:spPr>
          <a:xfrm>
            <a:off x="8046720" y="5852160"/>
            <a:ext cx="3291840" cy="320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causas "vitales"</a:t>
            </a:r>
            <a:endParaRPr lang="en-US" sz="1150" dirty="0"/>
          </a:p>
        </p:txBody>
      </p:sp>
      <p:sp>
        <p:nvSpPr>
          <p:cNvPr id="14" name="Text 11"/>
          <p:cNvSpPr txBox="1"/>
          <p:nvPr/>
        </p:nvSpPr>
        <p:spPr>
          <a:xfrm>
            <a:off x="640080" y="6400800"/>
            <a:ext cx="7315200" cy="32004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Diagrama de Pareto — Herramienta de Calidad</a:t>
            </a:r>
            <a:endParaRPr lang="en-US" sz="900" dirty="0"/>
          </a:p>
        </p:txBody>
      </p:sp>
      <p:sp>
        <p:nvSpPr>
          <p:cNvPr id="15" name="Text 12"/>
          <p:cNvSpPr txBox="1"/>
          <p:nvPr/>
        </p:nvSpPr>
        <p:spPr>
          <a:xfrm>
            <a:off x="11094415" y="6400800"/>
            <a:ext cx="54864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Aplicación organizacional</a:t>
            </a:r>
            <a:endParaRPr lang="en-US" sz="3000" dirty="0"/>
          </a:p>
        </p:txBody>
      </p:sp>
      <p:sp>
        <p:nvSpPr>
          <p:cNvPr id="3" name="Shape 1"/>
          <p:cNvSpPr/>
          <p:nvPr/>
        </p:nvSpPr>
        <p:spPr>
          <a:xfrm>
            <a:off x="640080" y="1417320"/>
            <a:ext cx="3520440" cy="1965960"/>
          </a:xfrm>
          <a:prstGeom prst="roundRect">
            <a:avLst>
              <a:gd name="adj" fmla="val 4651"/>
            </a:avLst>
          </a:prstGeom>
          <a:solidFill>
            <a:srgbClr val="FFFFFF"/>
          </a:solidFill>
          <a:ln/>
        </p:spPr>
      </p:sp>
      <p:sp>
        <p:nvSpPr>
          <p:cNvPr id="4" name="Shape 2"/>
          <p:cNvSpPr/>
          <p:nvPr/>
        </p:nvSpPr>
        <p:spPr>
          <a:xfrm>
            <a:off x="868680" y="1645920"/>
            <a:ext cx="594360" cy="594360"/>
          </a:xfrm>
          <a:prstGeom prst="ellipse">
            <a:avLst/>
          </a:prstGeom>
          <a:solidFill>
            <a:srgbClr val="2C5F8A"/>
          </a:solidFill>
          <a:ln/>
        </p:spPr>
      </p:sp>
      <p:sp>
        <p:nvSpPr>
          <p:cNvPr id="5" name="Text 3"/>
          <p:cNvSpPr txBox="1"/>
          <p:nvPr/>
        </p:nvSpPr>
        <p:spPr>
          <a:xfrm>
            <a:off x="868680" y="16459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t>
            </a:r>
            <a:endParaRPr lang="en-US" sz="1600" dirty="0"/>
          </a:p>
        </p:txBody>
      </p:sp>
      <p:sp>
        <p:nvSpPr>
          <p:cNvPr id="6" name="Text 4"/>
          <p:cNvSpPr txBox="1"/>
          <p:nvPr/>
        </p:nvSpPr>
        <p:spPr>
          <a:xfrm>
            <a:off x="1645920" y="1673352"/>
            <a:ext cx="23317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Manufactura</a:t>
            </a:r>
            <a:endParaRPr lang="en-US" sz="1300" dirty="0"/>
          </a:p>
        </p:txBody>
      </p:sp>
      <p:sp>
        <p:nvSpPr>
          <p:cNvPr id="7" name="Text 5"/>
          <p:cNvSpPr txBox="1"/>
          <p:nvPr/>
        </p:nvSpPr>
        <p:spPr>
          <a:xfrm>
            <a:off x="868680" y="2377440"/>
            <a:ext cx="3063240" cy="86868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Priorizar defectos de producción o tipos de falla de máquina.</a:t>
            </a:r>
            <a:endParaRPr lang="en-US" sz="1100" dirty="0"/>
          </a:p>
        </p:txBody>
      </p:sp>
      <p:sp>
        <p:nvSpPr>
          <p:cNvPr id="8" name="Shape 6"/>
          <p:cNvSpPr/>
          <p:nvPr/>
        </p:nvSpPr>
        <p:spPr>
          <a:xfrm>
            <a:off x="4389120" y="1417320"/>
            <a:ext cx="3520440" cy="1965960"/>
          </a:xfrm>
          <a:prstGeom prst="roundRect">
            <a:avLst>
              <a:gd name="adj" fmla="val 4651"/>
            </a:avLst>
          </a:prstGeom>
          <a:solidFill>
            <a:srgbClr val="FFFFFF"/>
          </a:solidFill>
          <a:ln/>
        </p:spPr>
      </p:sp>
      <p:sp>
        <p:nvSpPr>
          <p:cNvPr id="9" name="Shape 7"/>
          <p:cNvSpPr/>
          <p:nvPr/>
        </p:nvSpPr>
        <p:spPr>
          <a:xfrm>
            <a:off x="4617720" y="1645920"/>
            <a:ext cx="594360" cy="594360"/>
          </a:xfrm>
          <a:prstGeom prst="ellipse">
            <a:avLst/>
          </a:prstGeom>
          <a:solidFill>
            <a:srgbClr val="2C5F8A"/>
          </a:solidFill>
          <a:ln/>
        </p:spPr>
      </p:sp>
      <p:sp>
        <p:nvSpPr>
          <p:cNvPr id="10" name="Text 8"/>
          <p:cNvSpPr txBox="1"/>
          <p:nvPr/>
        </p:nvSpPr>
        <p:spPr>
          <a:xfrm>
            <a:off x="4617720" y="16459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a:t>
            </a:r>
            <a:endParaRPr lang="en-US" sz="1600" dirty="0"/>
          </a:p>
        </p:txBody>
      </p:sp>
      <p:sp>
        <p:nvSpPr>
          <p:cNvPr id="11" name="Text 9"/>
          <p:cNvSpPr txBox="1"/>
          <p:nvPr/>
        </p:nvSpPr>
        <p:spPr>
          <a:xfrm>
            <a:off x="5394960" y="1673352"/>
            <a:ext cx="23317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Logística y retail</a:t>
            </a:r>
            <a:endParaRPr lang="en-US" sz="1300" dirty="0"/>
          </a:p>
        </p:txBody>
      </p:sp>
      <p:sp>
        <p:nvSpPr>
          <p:cNvPr id="12" name="Text 10"/>
          <p:cNvSpPr txBox="1"/>
          <p:nvPr/>
        </p:nvSpPr>
        <p:spPr>
          <a:xfrm>
            <a:off x="4617720" y="2377440"/>
            <a:ext cx="3063240" cy="86868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Identificar causas dominantes de retrasos o devoluciones.</a:t>
            </a:r>
            <a:endParaRPr lang="en-US" sz="1100" dirty="0"/>
          </a:p>
        </p:txBody>
      </p:sp>
      <p:sp>
        <p:nvSpPr>
          <p:cNvPr id="13" name="Shape 11"/>
          <p:cNvSpPr/>
          <p:nvPr/>
        </p:nvSpPr>
        <p:spPr>
          <a:xfrm>
            <a:off x="8138160" y="1417320"/>
            <a:ext cx="3520440" cy="1965960"/>
          </a:xfrm>
          <a:prstGeom prst="roundRect">
            <a:avLst>
              <a:gd name="adj" fmla="val 4651"/>
            </a:avLst>
          </a:prstGeom>
          <a:solidFill>
            <a:srgbClr val="FFFFFF"/>
          </a:solidFill>
          <a:ln/>
        </p:spPr>
      </p:sp>
      <p:sp>
        <p:nvSpPr>
          <p:cNvPr id="14" name="Shape 12"/>
          <p:cNvSpPr/>
          <p:nvPr/>
        </p:nvSpPr>
        <p:spPr>
          <a:xfrm>
            <a:off x="8366760" y="1645920"/>
            <a:ext cx="594360" cy="594360"/>
          </a:xfrm>
          <a:prstGeom prst="ellipse">
            <a:avLst/>
          </a:prstGeom>
          <a:solidFill>
            <a:srgbClr val="2C5F8A"/>
          </a:solidFill>
          <a:ln/>
        </p:spPr>
      </p:sp>
      <p:sp>
        <p:nvSpPr>
          <p:cNvPr id="15" name="Text 13"/>
          <p:cNvSpPr txBox="1"/>
          <p:nvPr/>
        </p:nvSpPr>
        <p:spPr>
          <a:xfrm>
            <a:off x="8366760" y="16459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a:t>
            </a:r>
            <a:endParaRPr lang="en-US" sz="1600" dirty="0"/>
          </a:p>
        </p:txBody>
      </p:sp>
      <p:sp>
        <p:nvSpPr>
          <p:cNvPr id="16" name="Text 14"/>
          <p:cNvSpPr txBox="1"/>
          <p:nvPr/>
        </p:nvSpPr>
        <p:spPr>
          <a:xfrm>
            <a:off x="9144000" y="1673352"/>
            <a:ext cx="23317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Salud</a:t>
            </a:r>
            <a:endParaRPr lang="en-US" sz="1300" dirty="0"/>
          </a:p>
        </p:txBody>
      </p:sp>
      <p:sp>
        <p:nvSpPr>
          <p:cNvPr id="17" name="Text 15"/>
          <p:cNvSpPr txBox="1"/>
          <p:nvPr/>
        </p:nvSpPr>
        <p:spPr>
          <a:xfrm>
            <a:off x="8366760" y="2377440"/>
            <a:ext cx="3063240" cy="86868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Priorizar causas de reprocesos, esperas o eventos adversos.</a:t>
            </a:r>
            <a:endParaRPr lang="en-US" sz="1100" dirty="0"/>
          </a:p>
        </p:txBody>
      </p:sp>
      <p:sp>
        <p:nvSpPr>
          <p:cNvPr id="18" name="Shape 16"/>
          <p:cNvSpPr/>
          <p:nvPr/>
        </p:nvSpPr>
        <p:spPr>
          <a:xfrm>
            <a:off x="640080" y="3611880"/>
            <a:ext cx="3520440" cy="1965960"/>
          </a:xfrm>
          <a:prstGeom prst="roundRect">
            <a:avLst>
              <a:gd name="adj" fmla="val 4651"/>
            </a:avLst>
          </a:prstGeom>
          <a:solidFill>
            <a:srgbClr val="FFFFFF"/>
          </a:solidFill>
          <a:ln/>
        </p:spPr>
      </p:sp>
      <p:sp>
        <p:nvSpPr>
          <p:cNvPr id="19" name="Shape 17"/>
          <p:cNvSpPr/>
          <p:nvPr/>
        </p:nvSpPr>
        <p:spPr>
          <a:xfrm>
            <a:off x="868680" y="3840480"/>
            <a:ext cx="594360" cy="594360"/>
          </a:xfrm>
          <a:prstGeom prst="ellipse">
            <a:avLst/>
          </a:prstGeom>
          <a:solidFill>
            <a:srgbClr val="2C5F8A"/>
          </a:solidFill>
          <a:ln/>
        </p:spPr>
      </p:sp>
      <p:sp>
        <p:nvSpPr>
          <p:cNvPr id="20" name="Text 18"/>
          <p:cNvSpPr txBox="1"/>
          <p:nvPr/>
        </p:nvSpPr>
        <p:spPr>
          <a:xfrm>
            <a:off x="868680" y="384048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21" name="Text 19"/>
          <p:cNvSpPr txBox="1"/>
          <p:nvPr/>
        </p:nvSpPr>
        <p:spPr>
          <a:xfrm>
            <a:off x="1645920" y="3867912"/>
            <a:ext cx="23317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Servicio al cliente</a:t>
            </a:r>
            <a:endParaRPr lang="en-US" sz="1300" dirty="0"/>
          </a:p>
        </p:txBody>
      </p:sp>
      <p:sp>
        <p:nvSpPr>
          <p:cNvPr id="22" name="Text 20"/>
          <p:cNvSpPr txBox="1"/>
          <p:nvPr/>
        </p:nvSpPr>
        <p:spPr>
          <a:xfrm>
            <a:off x="868680" y="4572000"/>
            <a:ext cx="3063240" cy="86868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Enfocar la atención en los motivos más frecuentes de reclamo.</a:t>
            </a:r>
            <a:endParaRPr lang="en-US" sz="1100" dirty="0"/>
          </a:p>
        </p:txBody>
      </p:sp>
      <p:sp>
        <p:nvSpPr>
          <p:cNvPr id="23" name="Shape 21"/>
          <p:cNvSpPr/>
          <p:nvPr/>
        </p:nvSpPr>
        <p:spPr>
          <a:xfrm>
            <a:off x="4389120" y="3611880"/>
            <a:ext cx="3520440" cy="1965960"/>
          </a:xfrm>
          <a:prstGeom prst="roundRect">
            <a:avLst>
              <a:gd name="adj" fmla="val 4651"/>
            </a:avLst>
          </a:prstGeom>
          <a:solidFill>
            <a:srgbClr val="FFFFFF"/>
          </a:solidFill>
          <a:ln/>
        </p:spPr>
      </p:sp>
      <p:sp>
        <p:nvSpPr>
          <p:cNvPr id="24" name="Shape 22"/>
          <p:cNvSpPr/>
          <p:nvPr/>
        </p:nvSpPr>
        <p:spPr>
          <a:xfrm>
            <a:off x="4617720" y="3840480"/>
            <a:ext cx="594360" cy="594360"/>
          </a:xfrm>
          <a:prstGeom prst="ellipse">
            <a:avLst/>
          </a:prstGeom>
          <a:solidFill>
            <a:srgbClr val="2C5F8A"/>
          </a:solidFill>
          <a:ln/>
        </p:spPr>
      </p:sp>
      <p:sp>
        <p:nvSpPr>
          <p:cNvPr id="25" name="Text 23"/>
          <p:cNvSpPr txBox="1"/>
          <p:nvPr/>
        </p:nvSpPr>
        <p:spPr>
          <a:xfrm>
            <a:off x="4617720" y="384048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TI</a:t>
            </a:r>
            <a:endParaRPr lang="en-US" sz="1600" dirty="0"/>
          </a:p>
        </p:txBody>
      </p:sp>
      <p:sp>
        <p:nvSpPr>
          <p:cNvPr id="26" name="Text 24"/>
          <p:cNvSpPr txBox="1"/>
          <p:nvPr/>
        </p:nvSpPr>
        <p:spPr>
          <a:xfrm>
            <a:off x="5394960" y="3867912"/>
            <a:ext cx="23317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Tecnología / software</a:t>
            </a:r>
            <a:endParaRPr lang="en-US" sz="1300" dirty="0"/>
          </a:p>
        </p:txBody>
      </p:sp>
      <p:sp>
        <p:nvSpPr>
          <p:cNvPr id="27" name="Text 25"/>
          <p:cNvSpPr txBox="1"/>
          <p:nvPr/>
        </p:nvSpPr>
        <p:spPr>
          <a:xfrm>
            <a:off x="4617720" y="4572000"/>
            <a:ext cx="3063240" cy="86868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Priorizar los tipos de incidentes o bugs más recurrentes.</a:t>
            </a:r>
            <a:endParaRPr lang="en-US" sz="1100" dirty="0"/>
          </a:p>
        </p:txBody>
      </p:sp>
      <p:sp>
        <p:nvSpPr>
          <p:cNvPr id="28" name="Shape 26"/>
          <p:cNvSpPr/>
          <p:nvPr/>
        </p:nvSpPr>
        <p:spPr>
          <a:xfrm>
            <a:off x="8138160" y="3611880"/>
            <a:ext cx="3520440" cy="1965960"/>
          </a:xfrm>
          <a:prstGeom prst="roundRect">
            <a:avLst>
              <a:gd name="adj" fmla="val 4651"/>
            </a:avLst>
          </a:prstGeom>
          <a:solidFill>
            <a:srgbClr val="FFFFFF"/>
          </a:solidFill>
          <a:ln/>
        </p:spPr>
      </p:sp>
      <p:sp>
        <p:nvSpPr>
          <p:cNvPr id="29" name="Shape 27"/>
          <p:cNvSpPr/>
          <p:nvPr/>
        </p:nvSpPr>
        <p:spPr>
          <a:xfrm>
            <a:off x="8366760" y="3840480"/>
            <a:ext cx="594360" cy="594360"/>
          </a:xfrm>
          <a:prstGeom prst="ellipse">
            <a:avLst/>
          </a:prstGeom>
          <a:solidFill>
            <a:srgbClr val="2C5F8A"/>
          </a:solidFill>
          <a:ln/>
        </p:spPr>
      </p:sp>
      <p:sp>
        <p:nvSpPr>
          <p:cNvPr id="30" name="Text 28"/>
          <p:cNvSpPr txBox="1"/>
          <p:nvPr/>
        </p:nvSpPr>
        <p:spPr>
          <a:xfrm>
            <a:off x="8366760" y="384048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a:t>
            </a:r>
            <a:endParaRPr lang="en-US" sz="1600" dirty="0"/>
          </a:p>
        </p:txBody>
      </p:sp>
      <p:sp>
        <p:nvSpPr>
          <p:cNvPr id="31" name="Text 29"/>
          <p:cNvSpPr txBox="1"/>
          <p:nvPr/>
        </p:nvSpPr>
        <p:spPr>
          <a:xfrm>
            <a:off x="9144000" y="3867912"/>
            <a:ext cx="23317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Educación</a:t>
            </a:r>
            <a:endParaRPr lang="en-US" sz="1300" dirty="0"/>
          </a:p>
        </p:txBody>
      </p:sp>
      <p:sp>
        <p:nvSpPr>
          <p:cNvPr id="32" name="Text 30"/>
          <p:cNvSpPr txBox="1"/>
          <p:nvPr/>
        </p:nvSpPr>
        <p:spPr>
          <a:xfrm>
            <a:off x="8366760" y="4572000"/>
            <a:ext cx="3063240" cy="86868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Identificar las causas más comunes de deserción o bajo rendimiento.</a:t>
            </a:r>
            <a:endParaRPr lang="en-US" sz="1100" dirty="0"/>
          </a:p>
        </p:txBody>
      </p:sp>
      <p:sp>
        <p:nvSpPr>
          <p:cNvPr id="33" name="Text 31"/>
          <p:cNvSpPr txBox="1"/>
          <p:nvPr/>
        </p:nvSpPr>
        <p:spPr>
          <a:xfrm>
            <a:off x="640080" y="6400800"/>
            <a:ext cx="7315200" cy="32004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Diagrama de Pareto — Herramienta de Calidad</a:t>
            </a:r>
            <a:endParaRPr lang="en-US" sz="900" dirty="0"/>
          </a:p>
        </p:txBody>
      </p:sp>
      <p:sp>
        <p:nvSpPr>
          <p:cNvPr id="34" name="Text 32"/>
          <p:cNvSpPr txBox="1"/>
          <p:nvPr/>
        </p:nvSpPr>
        <p:spPr>
          <a:xfrm>
            <a:off x="11094415" y="6400800"/>
            <a:ext cx="54864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Software disponible para su implementación</a:t>
            </a:r>
            <a:endParaRPr lang="en-US" sz="3000" dirty="0"/>
          </a:p>
        </p:txBody>
      </p:sp>
      <p:sp>
        <p:nvSpPr>
          <p:cNvPr id="3" name="Shape 1"/>
          <p:cNvSpPr/>
          <p:nvPr/>
        </p:nvSpPr>
        <p:spPr>
          <a:xfrm>
            <a:off x="640080" y="1417320"/>
            <a:ext cx="3520440" cy="1965960"/>
          </a:xfrm>
          <a:prstGeom prst="roundRect">
            <a:avLst>
              <a:gd name="adj" fmla="val 4651"/>
            </a:avLst>
          </a:prstGeom>
          <a:solidFill>
            <a:srgbClr val="EDF0F5"/>
          </a:solidFill>
          <a:ln/>
        </p:spPr>
      </p:sp>
      <p:sp>
        <p:nvSpPr>
          <p:cNvPr id="4" name="Text 2"/>
          <p:cNvSpPr txBox="1"/>
          <p:nvPr/>
        </p:nvSpPr>
        <p:spPr>
          <a:xfrm>
            <a:off x="868680" y="1618488"/>
            <a:ext cx="306324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Microsoft Excel</a:t>
            </a:r>
            <a:endParaRPr lang="en-US" sz="1500" dirty="0"/>
          </a:p>
        </p:txBody>
      </p:sp>
      <p:sp>
        <p:nvSpPr>
          <p:cNvPr id="5" name="Text 3"/>
          <p:cNvSpPr txBox="1"/>
          <p:nvPr/>
        </p:nvSpPr>
        <p:spPr>
          <a:xfrm>
            <a:off x="868680" y="214884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Tablas dinámicas + gráfico combinado. Accesible y ampliamente usado.</a:t>
            </a:r>
            <a:endParaRPr lang="en-US" sz="1100" dirty="0"/>
          </a:p>
        </p:txBody>
      </p:sp>
      <p:sp>
        <p:nvSpPr>
          <p:cNvPr id="6" name="Shape 4"/>
          <p:cNvSpPr/>
          <p:nvPr/>
        </p:nvSpPr>
        <p:spPr>
          <a:xfrm>
            <a:off x="4389120" y="1417320"/>
            <a:ext cx="3520440" cy="1965960"/>
          </a:xfrm>
          <a:prstGeom prst="roundRect">
            <a:avLst>
              <a:gd name="adj" fmla="val 4651"/>
            </a:avLst>
          </a:prstGeom>
          <a:solidFill>
            <a:srgbClr val="EDF0F5"/>
          </a:solidFill>
          <a:ln/>
        </p:spPr>
      </p:sp>
      <p:sp>
        <p:nvSpPr>
          <p:cNvPr id="7" name="Text 5"/>
          <p:cNvSpPr txBox="1"/>
          <p:nvPr/>
        </p:nvSpPr>
        <p:spPr>
          <a:xfrm>
            <a:off x="4617720" y="1618488"/>
            <a:ext cx="306324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Minitab / QI Macros</a:t>
            </a:r>
            <a:endParaRPr lang="en-US" sz="1500" dirty="0"/>
          </a:p>
        </p:txBody>
      </p:sp>
      <p:sp>
        <p:nvSpPr>
          <p:cNvPr id="8" name="Text 6"/>
          <p:cNvSpPr txBox="1"/>
          <p:nvPr/>
        </p:nvSpPr>
        <p:spPr>
          <a:xfrm>
            <a:off x="4617720" y="214884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Software estadístico especializado en control de calidad.</a:t>
            </a:r>
            <a:endParaRPr lang="en-US" sz="1100" dirty="0"/>
          </a:p>
        </p:txBody>
      </p:sp>
      <p:sp>
        <p:nvSpPr>
          <p:cNvPr id="9" name="Shape 7"/>
          <p:cNvSpPr/>
          <p:nvPr/>
        </p:nvSpPr>
        <p:spPr>
          <a:xfrm>
            <a:off x="8138160" y="1417320"/>
            <a:ext cx="3520440" cy="1965960"/>
          </a:xfrm>
          <a:prstGeom prst="roundRect">
            <a:avLst>
              <a:gd name="adj" fmla="val 4651"/>
            </a:avLst>
          </a:prstGeom>
          <a:solidFill>
            <a:srgbClr val="1E2761"/>
          </a:solidFill>
          <a:ln/>
        </p:spPr>
      </p:sp>
      <p:sp>
        <p:nvSpPr>
          <p:cNvPr id="10" name="Text 8"/>
          <p:cNvSpPr txBox="1"/>
          <p:nvPr/>
        </p:nvSpPr>
        <p:spPr>
          <a:xfrm>
            <a:off x="8366760" y="1618488"/>
            <a:ext cx="3063240" cy="457200"/>
          </a:xfrm>
          <a:prstGeom prst="rect">
            <a:avLst/>
          </a:prstGeom>
          <a:noFill/>
          <a:ln/>
        </p:spPr>
        <p:txBody>
          <a:bodyPr wrap="square" lIns="0" tIns="0" rIns="0" bIns="0" rtlCol="0" anchor="ctr"/>
          <a:lstStyle/>
          <a:p>
            <a:pPr indent="0" marL="0">
              <a:buNone/>
            </a:pPr>
            <a:r>
              <a:rPr lang="en-US" sz="1500" b="1" dirty="0">
                <a:solidFill>
                  <a:srgbClr val="E67E22"/>
                </a:solidFill>
                <a:latin typeface="Cambria" pitchFamily="34" charset="0"/>
                <a:ea typeface="Cambria" pitchFamily="34" charset="-122"/>
                <a:cs typeface="Cambria" pitchFamily="34" charset="-120"/>
              </a:rPr>
              <a:t>Python</a:t>
            </a:r>
            <a:endParaRPr lang="en-US" sz="1500" dirty="0"/>
          </a:p>
        </p:txBody>
      </p:sp>
      <p:sp>
        <p:nvSpPr>
          <p:cNvPr id="11" name="Text 9"/>
          <p:cNvSpPr txBox="1"/>
          <p:nvPr/>
        </p:nvSpPr>
        <p:spPr>
          <a:xfrm>
            <a:off x="8366760" y="214884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pandas + matplotlib. Análisis reproducible y totalmente personalizable.</a:t>
            </a:r>
            <a:endParaRPr lang="en-US" sz="1100" dirty="0"/>
          </a:p>
        </p:txBody>
      </p:sp>
      <p:sp>
        <p:nvSpPr>
          <p:cNvPr id="12" name="Text 10"/>
          <p:cNvSpPr txBox="1"/>
          <p:nvPr/>
        </p:nvSpPr>
        <p:spPr>
          <a:xfrm>
            <a:off x="8366760" y="2999232"/>
            <a:ext cx="3063240" cy="274320"/>
          </a:xfrm>
          <a:prstGeom prst="rect">
            <a:avLst/>
          </a:prstGeom>
          <a:noFill/>
          <a:ln/>
        </p:spPr>
        <p:txBody>
          <a:bodyPr wrap="square" lIns="0" tIns="0" rIns="0" bIns="0" rtlCol="0" anchor="ctr"/>
          <a:lstStyle/>
          <a:p>
            <a:pPr indent="0" marL="0">
              <a:buNone/>
            </a:pPr>
            <a:r>
              <a:rPr lang="en-US" sz="950" i="1" dirty="0">
                <a:solidFill>
                  <a:srgbClr val="CADCFC"/>
                </a:solidFill>
                <a:latin typeface="Calibri" pitchFamily="34" charset="0"/>
                <a:ea typeface="Calibri" pitchFamily="34" charset="-122"/>
                <a:cs typeface="Calibri" pitchFamily="34" charset="-120"/>
              </a:rPr>
              <a:t>Usado en este proyecto</a:t>
            </a:r>
            <a:endParaRPr lang="en-US" sz="950" dirty="0"/>
          </a:p>
        </p:txBody>
      </p:sp>
      <p:sp>
        <p:nvSpPr>
          <p:cNvPr id="13" name="Shape 11"/>
          <p:cNvSpPr/>
          <p:nvPr/>
        </p:nvSpPr>
        <p:spPr>
          <a:xfrm>
            <a:off x="640080" y="3611880"/>
            <a:ext cx="3520440" cy="1965960"/>
          </a:xfrm>
          <a:prstGeom prst="roundRect">
            <a:avLst>
              <a:gd name="adj" fmla="val 4651"/>
            </a:avLst>
          </a:prstGeom>
          <a:solidFill>
            <a:srgbClr val="EDF0F5"/>
          </a:solidFill>
          <a:ln/>
        </p:spPr>
      </p:sp>
      <p:sp>
        <p:nvSpPr>
          <p:cNvPr id="14" name="Text 12"/>
          <p:cNvSpPr txBox="1"/>
          <p:nvPr/>
        </p:nvSpPr>
        <p:spPr>
          <a:xfrm>
            <a:off x="868680" y="3813048"/>
            <a:ext cx="306324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a:t>
            </a:r>
            <a:endParaRPr lang="en-US" sz="1500" dirty="0"/>
          </a:p>
        </p:txBody>
      </p:sp>
      <p:sp>
        <p:nvSpPr>
          <p:cNvPr id="15" name="Text 13"/>
          <p:cNvSpPr txBox="1"/>
          <p:nvPr/>
        </p:nvSpPr>
        <p:spPr>
          <a:xfrm>
            <a:off x="868680" y="434340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Paquetes como qcc, orientados a análisis estadístico de calidad.</a:t>
            </a:r>
            <a:endParaRPr lang="en-US" sz="1100" dirty="0"/>
          </a:p>
        </p:txBody>
      </p:sp>
      <p:sp>
        <p:nvSpPr>
          <p:cNvPr id="16" name="Shape 14"/>
          <p:cNvSpPr/>
          <p:nvPr/>
        </p:nvSpPr>
        <p:spPr>
          <a:xfrm>
            <a:off x="4389120" y="3611880"/>
            <a:ext cx="3520440" cy="1965960"/>
          </a:xfrm>
          <a:prstGeom prst="roundRect">
            <a:avLst>
              <a:gd name="adj" fmla="val 4651"/>
            </a:avLst>
          </a:prstGeom>
          <a:solidFill>
            <a:srgbClr val="EDF0F5"/>
          </a:solidFill>
          <a:ln/>
        </p:spPr>
      </p:sp>
      <p:sp>
        <p:nvSpPr>
          <p:cNvPr id="17" name="Text 15"/>
          <p:cNvSpPr txBox="1"/>
          <p:nvPr/>
        </p:nvSpPr>
        <p:spPr>
          <a:xfrm>
            <a:off x="4617720" y="3813048"/>
            <a:ext cx="306324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Power BI / Tableau</a:t>
            </a:r>
            <a:endParaRPr lang="en-US" sz="1500" dirty="0"/>
          </a:p>
        </p:txBody>
      </p:sp>
      <p:sp>
        <p:nvSpPr>
          <p:cNvPr id="18" name="Text 16"/>
          <p:cNvSpPr txBox="1"/>
          <p:nvPr/>
        </p:nvSpPr>
        <p:spPr>
          <a:xfrm>
            <a:off x="4617720" y="434340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Dashboards interactivos para monitoreo continuo del Pareto.</a:t>
            </a:r>
            <a:endParaRPr lang="en-US" sz="1100" dirty="0"/>
          </a:p>
        </p:txBody>
      </p:sp>
      <p:sp>
        <p:nvSpPr>
          <p:cNvPr id="19" name="Shape 17"/>
          <p:cNvSpPr/>
          <p:nvPr/>
        </p:nvSpPr>
        <p:spPr>
          <a:xfrm>
            <a:off x="8138160" y="3611880"/>
            <a:ext cx="3520440" cy="1965960"/>
          </a:xfrm>
          <a:prstGeom prst="roundRect">
            <a:avLst>
              <a:gd name="adj" fmla="val 4651"/>
            </a:avLst>
          </a:prstGeom>
          <a:solidFill>
            <a:srgbClr val="EDF0F5"/>
          </a:solidFill>
          <a:ln/>
        </p:spPr>
      </p:sp>
      <p:sp>
        <p:nvSpPr>
          <p:cNvPr id="20" name="Text 18"/>
          <p:cNvSpPr txBox="1"/>
          <p:nvPr/>
        </p:nvSpPr>
        <p:spPr>
          <a:xfrm>
            <a:off x="8366760" y="3813048"/>
            <a:ext cx="306324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Google Sheets</a:t>
            </a:r>
            <a:endParaRPr lang="en-US" sz="1500" dirty="0"/>
          </a:p>
        </p:txBody>
      </p:sp>
      <p:sp>
        <p:nvSpPr>
          <p:cNvPr id="21" name="Text 19"/>
          <p:cNvSpPr txBox="1"/>
          <p:nvPr/>
        </p:nvSpPr>
        <p:spPr>
          <a:xfrm>
            <a:off x="8366760" y="4343400"/>
            <a:ext cx="3063240" cy="105156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Alternativa gratuita en la nube para equipos pequeños.</a:t>
            </a:r>
            <a:endParaRPr lang="en-US" sz="1100" dirty="0"/>
          </a:p>
        </p:txBody>
      </p:sp>
      <p:sp>
        <p:nvSpPr>
          <p:cNvPr id="22" name="Text 20"/>
          <p:cNvSpPr txBox="1"/>
          <p:nvPr/>
        </p:nvSpPr>
        <p:spPr>
          <a:xfrm>
            <a:off x="640080" y="6400800"/>
            <a:ext cx="7315200" cy="32004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Diagrama de Pareto — Herramienta de Calidad</a:t>
            </a:r>
            <a:endParaRPr lang="en-US" sz="900" dirty="0"/>
          </a:p>
        </p:txBody>
      </p:sp>
      <p:sp>
        <p:nvSpPr>
          <p:cNvPr id="23" name="Text 21"/>
          <p:cNvSpPr txBox="1"/>
          <p:nvPr/>
        </p:nvSpPr>
        <p:spPr>
          <a:xfrm>
            <a:off x="11094415" y="6400800"/>
            <a:ext cx="54864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2C5F8A"/>
          </a:solidFill>
          <a:ln/>
        </p:spPr>
      </p:sp>
      <p:sp>
        <p:nvSpPr>
          <p:cNvPr id="3" name="Text 1"/>
          <p:cNvSpPr txBox="1"/>
          <p:nvPr/>
        </p:nvSpPr>
        <p:spPr>
          <a:xfrm>
            <a:off x="640080" y="502920"/>
            <a:ext cx="73152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
        <p:nvSpPr>
          <p:cNvPr id="4" name="Shape 2"/>
          <p:cNvSpPr/>
          <p:nvPr/>
        </p:nvSpPr>
        <p:spPr>
          <a:xfrm>
            <a:off x="640080" y="1645920"/>
            <a:ext cx="502920" cy="502920"/>
          </a:xfrm>
          <a:prstGeom prst="ellipse">
            <a:avLst/>
          </a:prstGeom>
          <a:solidFill>
            <a:srgbClr val="E67E22"/>
          </a:solidFill>
          <a:ln/>
        </p:spPr>
      </p:sp>
      <p:sp>
        <p:nvSpPr>
          <p:cNvPr id="5" name="Text 3"/>
          <p:cNvSpPr txBox="1"/>
          <p:nvPr/>
        </p:nvSpPr>
        <p:spPr>
          <a:xfrm>
            <a:off x="64008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txBox="1"/>
          <p:nvPr/>
        </p:nvSpPr>
        <p:spPr>
          <a:xfrm>
            <a:off x="1371600" y="1600200"/>
            <a:ext cx="9875520" cy="91440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El diagrama de Pareto convierte una lista extensa de causas en una prioridad clara y accionable.</a:t>
            </a:r>
            <a:endParaRPr lang="en-US" sz="1500" dirty="0"/>
          </a:p>
        </p:txBody>
      </p:sp>
      <p:sp>
        <p:nvSpPr>
          <p:cNvPr id="7" name="Shape 5"/>
          <p:cNvSpPr/>
          <p:nvPr/>
        </p:nvSpPr>
        <p:spPr>
          <a:xfrm>
            <a:off x="640080" y="2788920"/>
            <a:ext cx="502920" cy="502920"/>
          </a:xfrm>
          <a:prstGeom prst="ellipse">
            <a:avLst/>
          </a:prstGeom>
          <a:solidFill>
            <a:srgbClr val="E67E22"/>
          </a:solidFill>
          <a:ln/>
        </p:spPr>
      </p:sp>
      <p:sp>
        <p:nvSpPr>
          <p:cNvPr id="8" name="Text 6"/>
          <p:cNvSpPr txBox="1"/>
          <p:nvPr/>
        </p:nvSpPr>
        <p:spPr>
          <a:xfrm>
            <a:off x="640080" y="2788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txBox="1"/>
          <p:nvPr/>
        </p:nvSpPr>
        <p:spPr>
          <a:xfrm>
            <a:off x="1371600" y="2743200"/>
            <a:ext cx="9875520" cy="91440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Es el punto de partida natural cuando existen múltiples causas y recursos limitados para atenderlas.</a:t>
            </a:r>
            <a:endParaRPr lang="en-US" sz="1500" dirty="0"/>
          </a:p>
        </p:txBody>
      </p:sp>
      <p:sp>
        <p:nvSpPr>
          <p:cNvPr id="10" name="Shape 8"/>
          <p:cNvSpPr/>
          <p:nvPr/>
        </p:nvSpPr>
        <p:spPr>
          <a:xfrm>
            <a:off x="640080" y="3931920"/>
            <a:ext cx="502920" cy="502920"/>
          </a:xfrm>
          <a:prstGeom prst="ellipse">
            <a:avLst/>
          </a:prstGeom>
          <a:solidFill>
            <a:srgbClr val="E67E22"/>
          </a:solidFill>
          <a:ln/>
        </p:spPr>
      </p:sp>
      <p:sp>
        <p:nvSpPr>
          <p:cNvPr id="11" name="Text 9"/>
          <p:cNvSpPr txBox="1"/>
          <p:nvPr/>
        </p:nvSpPr>
        <p:spPr>
          <a:xfrm>
            <a:off x="640080" y="3931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1371600" y="3886200"/>
            <a:ext cx="9875520" cy="91440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Su fuerza está en la simplicidad: una sola gráfica comunica dónde enfocar la mejora.</a:t>
            </a:r>
            <a:endParaRPr lang="en-US" sz="1500" dirty="0"/>
          </a:p>
        </p:txBody>
      </p:sp>
      <p:sp>
        <p:nvSpPr>
          <p:cNvPr id="13" name="Shape 11"/>
          <p:cNvSpPr/>
          <p:nvPr/>
        </p:nvSpPr>
        <p:spPr>
          <a:xfrm>
            <a:off x="640080" y="5074920"/>
            <a:ext cx="502920" cy="502920"/>
          </a:xfrm>
          <a:prstGeom prst="ellipse">
            <a:avLst/>
          </a:prstGeom>
          <a:solidFill>
            <a:srgbClr val="E67E22"/>
          </a:solidFill>
          <a:ln/>
        </p:spPr>
      </p:sp>
      <p:sp>
        <p:nvSpPr>
          <p:cNvPr id="14" name="Text 12"/>
          <p:cNvSpPr txBox="1"/>
          <p:nvPr/>
        </p:nvSpPr>
        <p:spPr>
          <a:xfrm>
            <a:off x="640080" y="5074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txBox="1"/>
          <p:nvPr/>
        </p:nvSpPr>
        <p:spPr>
          <a:xfrm>
            <a:off x="1371600" y="5029200"/>
            <a:ext cx="9875520" cy="91440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Debe complementarse con herramientas de causa raíz (Ishikawa) y de seguimiento (gráfico de control) para sostener la mejora en el tiempo.</a:t>
            </a:r>
            <a:endParaRPr lang="en-US" sz="1500" dirty="0"/>
          </a:p>
        </p:txBody>
      </p:sp>
      <p:sp>
        <p:nvSpPr>
          <p:cNvPr id="16" name="Text 14"/>
          <p:cNvSpPr txBox="1"/>
          <p:nvPr/>
        </p:nvSpPr>
        <p:spPr>
          <a:xfrm>
            <a:off x="640080" y="6035040"/>
            <a:ext cx="10515600" cy="54864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“No se puede mejorar todo a la vez: el Pareto muestra por dónde empezar.”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2026-09-09T00:51:22Z</dcterms:created>
  <dcterms:modified xsi:type="dcterms:W3CDTF">2026-09-09T00:51:22Z</dcterms:modified>
</cp:coreProperties>
</file>